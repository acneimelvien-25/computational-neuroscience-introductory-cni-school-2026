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League Spartan" charset="1" panose="00000800000000000000"/>
      <p:regular r:id="rId24"/>
    </p:embeddedFont>
    <p:embeddedFont>
      <p:font typeface="Gowun Dodum" charset="1" panose="000000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48008" y="2203283"/>
            <a:ext cx="12746095" cy="4856456"/>
          </a:xfrm>
          <a:prstGeom prst="rect">
            <a:avLst/>
          </a:prstGeom>
        </p:spPr>
        <p:txBody>
          <a:bodyPr anchor="t" rtlCol="false" tIns="0" lIns="0" bIns="0" rIns="0">
            <a:spAutoFit/>
          </a:bodyPr>
          <a:lstStyle/>
          <a:p>
            <a:pPr algn="l" marL="0" indent="0" lvl="0">
              <a:lnSpc>
                <a:spcPts val="9663"/>
              </a:lnSpc>
            </a:pPr>
            <a:r>
              <a:rPr lang="en-US" b="true" sz="7669">
                <a:solidFill>
                  <a:srgbClr val="10265D"/>
                </a:solidFill>
                <a:latin typeface="League Spartan"/>
                <a:ea typeface="League Spartan"/>
                <a:cs typeface="League Spartan"/>
                <a:sym typeface="League Spartan"/>
              </a:rPr>
              <a:t>THEORETICAL FOUNDATIONS OF LEAKY INTEGRATE-AND-FIRE (LIF) DYNAMICS</a:t>
            </a:r>
          </a:p>
        </p:txBody>
      </p:sp>
      <p:grpSp>
        <p:nvGrpSpPr>
          <p:cNvPr name="Group 3" id="3"/>
          <p:cNvGrpSpPr/>
          <p:nvPr/>
        </p:nvGrpSpPr>
        <p:grpSpPr>
          <a:xfrm rot="0">
            <a:off x="14674910" y="0"/>
            <a:ext cx="3613090" cy="4482765"/>
            <a:chOff x="0" y="0"/>
            <a:chExt cx="951596" cy="1180646"/>
          </a:xfrm>
        </p:grpSpPr>
        <p:sp>
          <p:nvSpPr>
            <p:cNvPr name="Freeform 4" id="4"/>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solidFill>
              <a:srgbClr val="FDFEFF"/>
            </a:solidFill>
            <a:ln w="219075" cap="sq">
              <a:solidFill>
                <a:srgbClr val="182B5C"/>
              </a:solidFill>
              <a:prstDash val="solid"/>
              <a:miter/>
            </a:ln>
          </p:spPr>
        </p:sp>
        <p:sp>
          <p:nvSpPr>
            <p:cNvPr name="TextBox 5" id="5"/>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grpSp>
        <p:nvGrpSpPr>
          <p:cNvPr name="Group 6" id="6"/>
          <p:cNvGrpSpPr/>
          <p:nvPr/>
        </p:nvGrpSpPr>
        <p:grpSpPr>
          <a:xfrm rot="0">
            <a:off x="16092776" y="1799823"/>
            <a:ext cx="3613090" cy="4482765"/>
            <a:chOff x="0" y="0"/>
            <a:chExt cx="951596" cy="1180646"/>
          </a:xfrm>
        </p:grpSpPr>
        <p:sp>
          <p:nvSpPr>
            <p:cNvPr name="Freeform 7" id="7"/>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solidFill>
              <a:prstDash val="solid"/>
              <a:miter/>
            </a:ln>
          </p:spPr>
        </p:sp>
        <p:sp>
          <p:nvSpPr>
            <p:cNvPr name="TextBox 8" id="8"/>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grpSp>
        <p:nvGrpSpPr>
          <p:cNvPr name="Group 9" id="9"/>
          <p:cNvGrpSpPr/>
          <p:nvPr/>
        </p:nvGrpSpPr>
        <p:grpSpPr>
          <a:xfrm rot="0">
            <a:off x="13871639" y="1028700"/>
            <a:ext cx="3086100" cy="30861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65"/>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2" id="12"/>
          <p:cNvGrpSpPr/>
          <p:nvPr/>
        </p:nvGrpSpPr>
        <p:grpSpPr>
          <a:xfrm rot="0">
            <a:off x="13680386" y="2241383"/>
            <a:ext cx="2801069" cy="280106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B303"/>
            </a:solidFill>
          </p:spPr>
        </p:sp>
        <p:sp>
          <p:nvSpPr>
            <p:cNvPr name="TextBox 14" id="14"/>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5" id="15"/>
          <p:cNvGrpSpPr/>
          <p:nvPr/>
        </p:nvGrpSpPr>
        <p:grpSpPr>
          <a:xfrm rot="0">
            <a:off x="-872254" y="7107890"/>
            <a:ext cx="11897698" cy="1116793"/>
            <a:chOff x="0" y="0"/>
            <a:chExt cx="3133550" cy="294135"/>
          </a:xfrm>
        </p:grpSpPr>
        <p:sp>
          <p:nvSpPr>
            <p:cNvPr name="Freeform 16" id="16"/>
            <p:cNvSpPr/>
            <p:nvPr/>
          </p:nvSpPr>
          <p:spPr>
            <a:xfrm flipH="false" flipV="false" rot="0">
              <a:off x="0" y="0"/>
              <a:ext cx="3133550" cy="294135"/>
            </a:xfrm>
            <a:custGeom>
              <a:avLst/>
              <a:gdLst/>
              <a:ahLst/>
              <a:cxnLst/>
              <a:rect r="r" b="b" t="t" l="l"/>
              <a:pathLst>
                <a:path h="294135" w="3133550">
                  <a:moveTo>
                    <a:pt x="0" y="0"/>
                  </a:moveTo>
                  <a:lnTo>
                    <a:pt x="3133550" y="0"/>
                  </a:lnTo>
                  <a:lnTo>
                    <a:pt x="3133550" y="294135"/>
                  </a:lnTo>
                  <a:lnTo>
                    <a:pt x="0" y="294135"/>
                  </a:lnTo>
                  <a:close/>
                </a:path>
              </a:pathLst>
            </a:custGeom>
            <a:solidFill>
              <a:srgbClr val="183965"/>
            </a:solidFill>
          </p:spPr>
        </p:sp>
        <p:sp>
          <p:nvSpPr>
            <p:cNvPr name="TextBox 17" id="17"/>
            <p:cNvSpPr txBox="true"/>
            <p:nvPr/>
          </p:nvSpPr>
          <p:spPr>
            <a:xfrm>
              <a:off x="0" y="-47625"/>
              <a:ext cx="3133550" cy="341760"/>
            </a:xfrm>
            <a:prstGeom prst="rect">
              <a:avLst/>
            </a:prstGeom>
          </p:spPr>
          <p:txBody>
            <a:bodyPr anchor="ctr" rtlCol="false" tIns="50800" lIns="50800" bIns="50800" rIns="50800"/>
            <a:lstStyle/>
            <a:p>
              <a:pPr algn="ctr" marL="0" indent="0" lvl="0">
                <a:lnSpc>
                  <a:spcPts val="3497"/>
                </a:lnSpc>
              </a:pPr>
            </a:p>
          </p:txBody>
        </p:sp>
      </p:grpSp>
      <p:sp>
        <p:nvSpPr>
          <p:cNvPr name="Freeform 18" id="18"/>
          <p:cNvSpPr/>
          <p:nvPr/>
        </p:nvSpPr>
        <p:spPr>
          <a:xfrm flipH="false" flipV="false" rot="0">
            <a:off x="17149924" y="9122040"/>
            <a:ext cx="1138076" cy="1164960"/>
          </a:xfrm>
          <a:custGeom>
            <a:avLst/>
            <a:gdLst/>
            <a:ahLst/>
            <a:cxnLst/>
            <a:rect r="r" b="b" t="t" l="l"/>
            <a:pathLst>
              <a:path h="1164960" w="1138076">
                <a:moveTo>
                  <a:pt x="0" y="0"/>
                </a:moveTo>
                <a:lnTo>
                  <a:pt x="1138076" y="0"/>
                </a:lnTo>
                <a:lnTo>
                  <a:pt x="1138076" y="1164960"/>
                </a:lnTo>
                <a:lnTo>
                  <a:pt x="0" y="1164960"/>
                </a:lnTo>
                <a:lnTo>
                  <a:pt x="0" y="0"/>
                </a:lnTo>
                <a:close/>
              </a:path>
            </a:pathLst>
          </a:custGeom>
          <a:blipFill>
            <a:blip r:embed="rId2"/>
            <a:stretch>
              <a:fillRect l="0" t="0" r="0" b="0"/>
            </a:stretch>
          </a:blipFill>
        </p:spPr>
      </p:sp>
      <p:sp>
        <p:nvSpPr>
          <p:cNvPr name="TextBox 19" id="19"/>
          <p:cNvSpPr txBox="true"/>
          <p:nvPr/>
        </p:nvSpPr>
        <p:spPr>
          <a:xfrm rot="0">
            <a:off x="1028700" y="7385193"/>
            <a:ext cx="9127390" cy="505038"/>
          </a:xfrm>
          <a:prstGeom prst="rect">
            <a:avLst/>
          </a:prstGeom>
        </p:spPr>
        <p:txBody>
          <a:bodyPr anchor="t" rtlCol="false" tIns="0" lIns="0" bIns="0" rIns="0">
            <a:spAutoFit/>
          </a:bodyPr>
          <a:lstStyle/>
          <a:p>
            <a:pPr algn="l" marL="0" indent="0" lvl="0">
              <a:lnSpc>
                <a:spcPts val="4188"/>
              </a:lnSpc>
            </a:pPr>
            <a:r>
              <a:rPr lang="en-US" sz="2991">
                <a:solidFill>
                  <a:srgbClr val="FFFFFF"/>
                </a:solidFill>
                <a:latin typeface="Gowun Dodum"/>
                <a:ea typeface="Gowun Dodum"/>
                <a:cs typeface="Gowun Dodum"/>
                <a:sym typeface="Gowun Dodum"/>
              </a:rPr>
              <a:t>ACNEI Computational Neuroscience Introductory School</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DFEFF"/>
        </a:solidFill>
      </p:bgPr>
    </p:bg>
    <p:spTree>
      <p:nvGrpSpPr>
        <p:cNvPr id="1" name=""/>
        <p:cNvGrpSpPr/>
        <p:nvPr/>
      </p:nvGrpSpPr>
      <p:grpSpPr>
        <a:xfrm>
          <a:off x="0" y="0"/>
          <a:ext cx="0" cy="0"/>
          <a:chOff x="0" y="0"/>
          <a:chExt cx="0" cy="0"/>
        </a:xfrm>
      </p:grpSpPr>
      <p:sp>
        <p:nvSpPr>
          <p:cNvPr name="TextBox 2" id="2"/>
          <p:cNvSpPr txBox="true"/>
          <p:nvPr/>
        </p:nvSpPr>
        <p:spPr>
          <a:xfrm rot="0">
            <a:off x="2867060" y="1094557"/>
            <a:ext cx="12057037" cy="1377949"/>
          </a:xfrm>
          <a:prstGeom prst="rect">
            <a:avLst/>
          </a:prstGeom>
        </p:spPr>
        <p:txBody>
          <a:bodyPr anchor="t" rtlCol="false" tIns="0" lIns="0" bIns="0" rIns="0">
            <a:spAutoFit/>
          </a:bodyPr>
          <a:lstStyle/>
          <a:p>
            <a:pPr algn="ctr" marL="0" indent="0" lvl="0">
              <a:lnSpc>
                <a:spcPts val="11200"/>
              </a:lnSpc>
            </a:pPr>
            <a:r>
              <a:rPr lang="en-US" b="true" sz="8000">
                <a:solidFill>
                  <a:srgbClr val="183965"/>
                </a:solidFill>
                <a:latin typeface="League Spartan"/>
                <a:ea typeface="League Spartan"/>
                <a:cs typeface="League Spartan"/>
                <a:sym typeface="League Spartan"/>
              </a:rPr>
              <a:t>Session Objectives</a:t>
            </a:r>
          </a:p>
        </p:txBody>
      </p:sp>
      <p:sp>
        <p:nvSpPr>
          <p:cNvPr name="TextBox 3" id="3"/>
          <p:cNvSpPr txBox="true"/>
          <p:nvPr/>
        </p:nvSpPr>
        <p:spPr>
          <a:xfrm rot="0">
            <a:off x="1417928" y="3586025"/>
            <a:ext cx="5416057" cy="1526678"/>
          </a:xfrm>
          <a:prstGeom prst="rect">
            <a:avLst/>
          </a:prstGeom>
        </p:spPr>
        <p:txBody>
          <a:bodyPr anchor="t" rtlCol="false" tIns="0" lIns="0" bIns="0" rIns="0">
            <a:spAutoFit/>
          </a:bodyPr>
          <a:lstStyle/>
          <a:p>
            <a:pPr algn="l" marL="624940" indent="-312470" lvl="1">
              <a:lnSpc>
                <a:spcPts val="4052"/>
              </a:lnSpc>
              <a:buFont typeface="Arial"/>
              <a:buChar char="•"/>
            </a:pPr>
            <a:r>
              <a:rPr lang="en-US" sz="2894">
                <a:solidFill>
                  <a:srgbClr val="10265D"/>
                </a:solidFill>
                <a:latin typeface="Gowun Dodum"/>
                <a:ea typeface="Gowun Dodum"/>
                <a:cs typeface="Gowun Dodum"/>
                <a:sym typeface="Gowun Dodum"/>
              </a:rPr>
              <a:t>Understand the mathematical foundations of LIF neuron models</a:t>
            </a:r>
          </a:p>
        </p:txBody>
      </p:sp>
      <p:sp>
        <p:nvSpPr>
          <p:cNvPr name="TextBox 4" id="4"/>
          <p:cNvSpPr txBox="true"/>
          <p:nvPr/>
        </p:nvSpPr>
        <p:spPr>
          <a:xfrm rot="0">
            <a:off x="1417928" y="6676172"/>
            <a:ext cx="5508457" cy="1012328"/>
          </a:xfrm>
          <a:prstGeom prst="rect">
            <a:avLst/>
          </a:prstGeom>
        </p:spPr>
        <p:txBody>
          <a:bodyPr anchor="t" rtlCol="false" tIns="0" lIns="0" bIns="0" rIns="0">
            <a:spAutoFit/>
          </a:bodyPr>
          <a:lstStyle/>
          <a:p>
            <a:pPr algn="l" marL="624940" indent="-312470" lvl="1">
              <a:lnSpc>
                <a:spcPts val="4052"/>
              </a:lnSpc>
              <a:buFont typeface="Arial"/>
              <a:buChar char="•"/>
            </a:pPr>
            <a:r>
              <a:rPr lang="en-US" sz="2894">
                <a:solidFill>
                  <a:srgbClr val="10265D"/>
                </a:solidFill>
                <a:latin typeface="Gowun Dodum"/>
                <a:ea typeface="Gowun Dodum"/>
                <a:cs typeface="Gowun Dodum"/>
                <a:sym typeface="Gowun Dodum"/>
              </a:rPr>
              <a:t>Recognize the biological basis for LIF dynamics</a:t>
            </a:r>
          </a:p>
        </p:txBody>
      </p:sp>
      <p:sp>
        <p:nvSpPr>
          <p:cNvPr name="TextBox 5" id="5"/>
          <p:cNvSpPr txBox="true"/>
          <p:nvPr/>
        </p:nvSpPr>
        <p:spPr>
          <a:xfrm rot="0">
            <a:off x="8166936" y="3999872"/>
            <a:ext cx="6439601" cy="1012328"/>
          </a:xfrm>
          <a:prstGeom prst="rect">
            <a:avLst/>
          </a:prstGeom>
        </p:spPr>
        <p:txBody>
          <a:bodyPr anchor="t" rtlCol="false" tIns="0" lIns="0" bIns="0" rIns="0">
            <a:spAutoFit/>
          </a:bodyPr>
          <a:lstStyle/>
          <a:p>
            <a:pPr algn="l" marL="624940" indent="-312470" lvl="1">
              <a:lnSpc>
                <a:spcPts val="4052"/>
              </a:lnSpc>
              <a:buFont typeface="Arial"/>
              <a:buChar char="•"/>
            </a:pPr>
            <a:r>
              <a:rPr lang="en-US" sz="2894">
                <a:solidFill>
                  <a:srgbClr val="10265D"/>
                </a:solidFill>
                <a:latin typeface="Gowun Dodum"/>
                <a:ea typeface="Gowun Dodum"/>
                <a:cs typeface="Gowun Dodum"/>
                <a:sym typeface="Gowun Dodum"/>
              </a:rPr>
              <a:t>Relate LIF models to real neural behavior</a:t>
            </a:r>
          </a:p>
        </p:txBody>
      </p:sp>
      <p:sp>
        <p:nvSpPr>
          <p:cNvPr name="TextBox 6" id="6"/>
          <p:cNvSpPr txBox="true"/>
          <p:nvPr/>
        </p:nvSpPr>
        <p:spPr>
          <a:xfrm rot="0">
            <a:off x="1417928" y="5476594"/>
            <a:ext cx="6001317" cy="978562"/>
          </a:xfrm>
          <a:prstGeom prst="rect">
            <a:avLst/>
          </a:prstGeom>
        </p:spPr>
        <p:txBody>
          <a:bodyPr anchor="t" rtlCol="false" tIns="0" lIns="0" bIns="0" rIns="0">
            <a:spAutoFit/>
          </a:bodyPr>
          <a:lstStyle/>
          <a:p>
            <a:pPr algn="l" marL="624940" indent="-312470" lvl="1">
              <a:lnSpc>
                <a:spcPts val="2518"/>
              </a:lnSpc>
              <a:buFont typeface="Arial"/>
              <a:buChar char="•"/>
            </a:pPr>
            <a:r>
              <a:rPr lang="en-US" sz="2894">
                <a:solidFill>
                  <a:srgbClr val="10265D"/>
                </a:solidFill>
                <a:latin typeface="Gowun Dodum"/>
                <a:ea typeface="Gowun Dodum"/>
                <a:cs typeface="Gowun Dodum"/>
                <a:sym typeface="Gowun Dodum"/>
              </a:rPr>
              <a:t>Apply LIF concepts in computational neuroscience studies</a:t>
            </a:r>
          </a:p>
        </p:txBody>
      </p:sp>
      <p:sp>
        <p:nvSpPr>
          <p:cNvPr name="TextBox 7" id="7"/>
          <p:cNvSpPr txBox="true"/>
          <p:nvPr/>
        </p:nvSpPr>
        <p:spPr>
          <a:xfrm rot="0">
            <a:off x="8166936" y="6676172"/>
            <a:ext cx="5175256" cy="1012328"/>
          </a:xfrm>
          <a:prstGeom prst="rect">
            <a:avLst/>
          </a:prstGeom>
        </p:spPr>
        <p:txBody>
          <a:bodyPr anchor="t" rtlCol="false" tIns="0" lIns="0" bIns="0" rIns="0">
            <a:spAutoFit/>
          </a:bodyPr>
          <a:lstStyle/>
          <a:p>
            <a:pPr algn="l" marL="624940" indent="-312470" lvl="1">
              <a:lnSpc>
                <a:spcPts val="4052"/>
              </a:lnSpc>
              <a:buFont typeface="Arial"/>
              <a:buChar char="•"/>
            </a:pPr>
            <a:r>
              <a:rPr lang="en-US" sz="2894">
                <a:solidFill>
                  <a:srgbClr val="10265D"/>
                </a:solidFill>
                <a:latin typeface="Gowun Dodum"/>
                <a:ea typeface="Gowun Dodum"/>
                <a:cs typeface="Gowun Dodum"/>
                <a:sym typeface="Gowun Dodum"/>
              </a:rPr>
              <a:t>Connect theory to experimental practice</a:t>
            </a:r>
          </a:p>
        </p:txBody>
      </p:sp>
      <p:sp>
        <p:nvSpPr>
          <p:cNvPr name="TextBox 8" id="8"/>
          <p:cNvSpPr txBox="true"/>
          <p:nvPr/>
        </p:nvSpPr>
        <p:spPr>
          <a:xfrm rot="0">
            <a:off x="8166936" y="5474653"/>
            <a:ext cx="6008382" cy="1012328"/>
          </a:xfrm>
          <a:prstGeom prst="rect">
            <a:avLst/>
          </a:prstGeom>
        </p:spPr>
        <p:txBody>
          <a:bodyPr anchor="t" rtlCol="false" tIns="0" lIns="0" bIns="0" rIns="0">
            <a:spAutoFit/>
          </a:bodyPr>
          <a:lstStyle/>
          <a:p>
            <a:pPr algn="l" marL="624940" indent="-312470" lvl="1">
              <a:lnSpc>
                <a:spcPts val="4052"/>
              </a:lnSpc>
              <a:buFont typeface="Arial"/>
              <a:buChar char="•"/>
            </a:pPr>
            <a:r>
              <a:rPr lang="en-US" sz="2894">
                <a:solidFill>
                  <a:srgbClr val="10265D"/>
                </a:solidFill>
                <a:latin typeface="Gowun Dodum"/>
                <a:ea typeface="Gowun Dodum"/>
                <a:cs typeface="Gowun Dodum"/>
                <a:sym typeface="Gowun Dodum"/>
              </a:rPr>
              <a:t>Build skills to analyze computational neuron models</a:t>
            </a:r>
          </a:p>
        </p:txBody>
      </p:sp>
      <p:grpSp>
        <p:nvGrpSpPr>
          <p:cNvPr name="Group 9" id="9"/>
          <p:cNvGrpSpPr/>
          <p:nvPr/>
        </p:nvGrpSpPr>
        <p:grpSpPr>
          <a:xfrm rot="0">
            <a:off x="16087125" y="8249881"/>
            <a:ext cx="2801069" cy="2801069"/>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B303"/>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2" id="12"/>
          <p:cNvGrpSpPr/>
          <p:nvPr/>
        </p:nvGrpSpPr>
        <p:grpSpPr>
          <a:xfrm rot="0">
            <a:off x="14924098" y="8886466"/>
            <a:ext cx="2801069" cy="280106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2B5C"/>
            </a:solidFill>
          </p:spPr>
        </p:sp>
        <p:sp>
          <p:nvSpPr>
            <p:cNvPr name="TextBox 14" id="14"/>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5" id="15"/>
          <p:cNvGrpSpPr/>
          <p:nvPr/>
        </p:nvGrpSpPr>
        <p:grpSpPr>
          <a:xfrm rot="0">
            <a:off x="16087125" y="-371834"/>
            <a:ext cx="2801069" cy="2801069"/>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2B5C">
                <a:alpha val="37647"/>
              </a:srgbClr>
            </a:solidFill>
          </p:spPr>
        </p:sp>
        <p:sp>
          <p:nvSpPr>
            <p:cNvPr name="TextBox 17" id="17"/>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8" id="18"/>
          <p:cNvGrpSpPr/>
          <p:nvPr/>
        </p:nvGrpSpPr>
        <p:grpSpPr>
          <a:xfrm rot="0">
            <a:off x="15646560" y="222245"/>
            <a:ext cx="2801069" cy="2801069"/>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2B5C"/>
            </a:solidFill>
          </p:spPr>
        </p:sp>
        <p:sp>
          <p:nvSpPr>
            <p:cNvPr name="TextBox 20" id="20"/>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sp>
        <p:nvSpPr>
          <p:cNvPr name="Freeform 21" id="21"/>
          <p:cNvSpPr/>
          <p:nvPr/>
        </p:nvSpPr>
        <p:spPr>
          <a:xfrm flipH="false" flipV="false" rot="0">
            <a:off x="17149924" y="9122040"/>
            <a:ext cx="1138076" cy="1164960"/>
          </a:xfrm>
          <a:custGeom>
            <a:avLst/>
            <a:gdLst/>
            <a:ahLst/>
            <a:cxnLst/>
            <a:rect r="r" b="b" t="t" l="l"/>
            <a:pathLst>
              <a:path h="1164960" w="1138076">
                <a:moveTo>
                  <a:pt x="0" y="0"/>
                </a:moveTo>
                <a:lnTo>
                  <a:pt x="1138076" y="0"/>
                </a:lnTo>
                <a:lnTo>
                  <a:pt x="1138076" y="1164960"/>
                </a:lnTo>
                <a:lnTo>
                  <a:pt x="0" y="1164960"/>
                </a:lnTo>
                <a:lnTo>
                  <a:pt x="0" y="0"/>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DFEFF"/>
        </a:solidFill>
      </p:bgPr>
    </p:bg>
    <p:spTree>
      <p:nvGrpSpPr>
        <p:cNvPr id="1" name=""/>
        <p:cNvGrpSpPr/>
        <p:nvPr/>
      </p:nvGrpSpPr>
      <p:grpSpPr>
        <a:xfrm>
          <a:off x="0" y="0"/>
          <a:ext cx="0" cy="0"/>
          <a:chOff x="0" y="0"/>
          <a:chExt cx="0" cy="0"/>
        </a:xfrm>
      </p:grpSpPr>
      <p:sp>
        <p:nvSpPr>
          <p:cNvPr name="TextBox 2" id="2"/>
          <p:cNvSpPr txBox="true"/>
          <p:nvPr/>
        </p:nvSpPr>
        <p:spPr>
          <a:xfrm rot="0">
            <a:off x="3778027" y="1379967"/>
            <a:ext cx="11162746" cy="1377949"/>
          </a:xfrm>
          <a:prstGeom prst="rect">
            <a:avLst/>
          </a:prstGeom>
        </p:spPr>
        <p:txBody>
          <a:bodyPr anchor="t" rtlCol="false" tIns="0" lIns="0" bIns="0" rIns="0">
            <a:spAutoFit/>
          </a:bodyPr>
          <a:lstStyle/>
          <a:p>
            <a:pPr algn="l" marL="0" indent="0" lvl="0">
              <a:lnSpc>
                <a:spcPts val="11200"/>
              </a:lnSpc>
              <a:spcBef>
                <a:spcPct val="0"/>
              </a:spcBef>
            </a:pPr>
            <a:r>
              <a:rPr lang="en-US" b="true" sz="8000">
                <a:solidFill>
                  <a:srgbClr val="183965"/>
                </a:solidFill>
                <a:latin typeface="League Spartan"/>
                <a:ea typeface="League Spartan"/>
                <a:cs typeface="League Spartan"/>
                <a:sym typeface="League Spartan"/>
              </a:rPr>
              <a:t>Big Picture Context</a:t>
            </a:r>
          </a:p>
        </p:txBody>
      </p:sp>
      <p:sp>
        <p:nvSpPr>
          <p:cNvPr name="TextBox 3" id="3"/>
          <p:cNvSpPr txBox="true"/>
          <p:nvPr/>
        </p:nvSpPr>
        <p:spPr>
          <a:xfrm rot="0">
            <a:off x="1443238" y="4068317"/>
            <a:ext cx="7700762" cy="4907966"/>
          </a:xfrm>
          <a:prstGeom prst="rect">
            <a:avLst/>
          </a:prstGeom>
        </p:spPr>
        <p:txBody>
          <a:bodyPr anchor="t" rtlCol="false" tIns="0" lIns="0" bIns="0" rIns="0">
            <a:spAutoFit/>
          </a:bodyPr>
          <a:lstStyle/>
          <a:p>
            <a:pPr algn="l" marL="559600" indent="-279800" lvl="1">
              <a:lnSpc>
                <a:spcPts val="3239"/>
              </a:lnSpc>
              <a:buFont typeface="Arial"/>
              <a:buChar char="•"/>
            </a:pPr>
            <a:r>
              <a:rPr lang="en-US" sz="2591">
                <a:solidFill>
                  <a:srgbClr val="10265D"/>
                </a:solidFill>
                <a:latin typeface="Gowun Dodum"/>
                <a:ea typeface="Gowun Dodum"/>
                <a:cs typeface="Gowun Dodum"/>
                <a:sym typeface="Gowun Dodum"/>
              </a:rPr>
              <a:t>LIF models are fundamental tools in computational neuroscience, serving as essential building blocks for modeling brain circuits and analyzing neural data. These models capture the core dynamics of how neurons integrate inputs and generate spikes, making them invaluable for understanding information processing in the brain.</a:t>
            </a:r>
          </a:p>
          <a:p>
            <a:pPr algn="l" marL="559600" indent="-279800" lvl="1">
              <a:lnSpc>
                <a:spcPts val="3239"/>
              </a:lnSpc>
              <a:buFont typeface="Arial"/>
              <a:buChar char="•"/>
            </a:pPr>
            <a:r>
              <a:rPr lang="en-US" sz="2591">
                <a:solidFill>
                  <a:srgbClr val="10265D"/>
                </a:solidFill>
                <a:latin typeface="Gowun Dodum"/>
                <a:ea typeface="Gowun Dodum"/>
                <a:cs typeface="Gowun Dodum"/>
                <a:sym typeface="Gowun Dodum"/>
              </a:rPr>
              <a:t>The power of LIF models lies in their ability to bridge biological neuron behavior with computational frameworks, translating complex biophysical processes into tractable mathematical descriptions.</a:t>
            </a:r>
          </a:p>
        </p:txBody>
      </p:sp>
      <p:sp>
        <p:nvSpPr>
          <p:cNvPr name="TextBox 4" id="4"/>
          <p:cNvSpPr txBox="true"/>
          <p:nvPr/>
        </p:nvSpPr>
        <p:spPr>
          <a:xfrm rot="0">
            <a:off x="9582508" y="4068317"/>
            <a:ext cx="8213008" cy="4692202"/>
          </a:xfrm>
          <a:prstGeom prst="rect">
            <a:avLst/>
          </a:prstGeom>
        </p:spPr>
        <p:txBody>
          <a:bodyPr anchor="t" rtlCol="false" tIns="0" lIns="0" bIns="0" rIns="0">
            <a:spAutoFit/>
          </a:bodyPr>
          <a:lstStyle/>
          <a:p>
            <a:pPr algn="l" marL="583761" indent="-291881" lvl="1">
              <a:lnSpc>
                <a:spcPts val="3379"/>
              </a:lnSpc>
              <a:buFont typeface="Arial"/>
              <a:buChar char="•"/>
            </a:pPr>
            <a:r>
              <a:rPr lang="en-US" sz="2703">
                <a:solidFill>
                  <a:srgbClr val="10265D"/>
                </a:solidFill>
                <a:latin typeface="Gowun Dodum"/>
                <a:ea typeface="Gowun Dodum"/>
                <a:cs typeface="Gowun Dodum"/>
                <a:sym typeface="Gowun Dodum"/>
              </a:rPr>
              <a:t>This session connects to foundational topics you've already explored, including neuron anatomy and electrophysiology. Understanding how real neurons function at the cellular level provides the biological grounding for appreciating why LIF models work so effectively.</a:t>
            </a:r>
          </a:p>
          <a:p>
            <a:pPr algn="l" marL="583761" indent="-291881" lvl="1">
              <a:lnSpc>
                <a:spcPts val="3379"/>
              </a:lnSpc>
              <a:buFont typeface="Arial"/>
              <a:buChar char="•"/>
            </a:pPr>
            <a:r>
              <a:rPr lang="en-US" sz="2703">
                <a:solidFill>
                  <a:srgbClr val="10265D"/>
                </a:solidFill>
                <a:latin typeface="Gowun Dodum"/>
                <a:ea typeface="Gowun Dodum"/>
                <a:cs typeface="Gowun Dodum"/>
                <a:sym typeface="Gowun Dodum"/>
              </a:rPr>
              <a:t>By abstracting key features of neural dynamics while preserving essential computational properties, LIF models enable researchers to simulate large-scale neural networks and test hypotheses about brain function.</a:t>
            </a:r>
          </a:p>
        </p:txBody>
      </p:sp>
      <p:grpSp>
        <p:nvGrpSpPr>
          <p:cNvPr name="Group 5" id="5"/>
          <p:cNvGrpSpPr/>
          <p:nvPr/>
        </p:nvGrpSpPr>
        <p:grpSpPr>
          <a:xfrm rot="0">
            <a:off x="-1814631" y="-2773990"/>
            <a:ext cx="3613090" cy="4482765"/>
            <a:chOff x="0" y="0"/>
            <a:chExt cx="951596" cy="1180646"/>
          </a:xfrm>
        </p:grpSpPr>
        <p:sp>
          <p:nvSpPr>
            <p:cNvPr name="Freeform 6" id="6"/>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alpha val="21961"/>
                </a:srgbClr>
              </a:solidFill>
              <a:prstDash val="solid"/>
              <a:miter/>
            </a:ln>
          </p:spPr>
        </p:sp>
        <p:sp>
          <p:nvSpPr>
            <p:cNvPr name="TextBox 7" id="7"/>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grpSp>
        <p:nvGrpSpPr>
          <p:cNvPr name="Group 8" id="8"/>
          <p:cNvGrpSpPr/>
          <p:nvPr/>
        </p:nvGrpSpPr>
        <p:grpSpPr>
          <a:xfrm rot="0">
            <a:off x="-806829" y="-2129263"/>
            <a:ext cx="3613090" cy="4482765"/>
            <a:chOff x="0" y="0"/>
            <a:chExt cx="951596" cy="1180646"/>
          </a:xfrm>
        </p:grpSpPr>
        <p:sp>
          <p:nvSpPr>
            <p:cNvPr name="Freeform 9" id="9"/>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solidFill>
              <a:prstDash val="solid"/>
              <a:miter/>
            </a:ln>
          </p:spPr>
        </p:sp>
        <p:sp>
          <p:nvSpPr>
            <p:cNvPr name="TextBox 10" id="10"/>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grpSp>
        <p:nvGrpSpPr>
          <p:cNvPr name="Group 11" id="11"/>
          <p:cNvGrpSpPr/>
          <p:nvPr/>
        </p:nvGrpSpPr>
        <p:grpSpPr>
          <a:xfrm rot="0">
            <a:off x="16252466" y="-514350"/>
            <a:ext cx="3086100" cy="30861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65">
                <a:alpha val="45882"/>
              </a:srgbClr>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4" id="14"/>
          <p:cNvGrpSpPr/>
          <p:nvPr/>
        </p:nvGrpSpPr>
        <p:grpSpPr>
          <a:xfrm rot="0">
            <a:off x="15912539" y="565163"/>
            <a:ext cx="3086100" cy="3086100"/>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65"/>
            </a:solidFill>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sp>
        <p:nvSpPr>
          <p:cNvPr name="Freeform 17" id="17"/>
          <p:cNvSpPr/>
          <p:nvPr/>
        </p:nvSpPr>
        <p:spPr>
          <a:xfrm flipH="false" flipV="false" rot="0">
            <a:off x="17149924" y="9122040"/>
            <a:ext cx="1138076" cy="1164960"/>
          </a:xfrm>
          <a:custGeom>
            <a:avLst/>
            <a:gdLst/>
            <a:ahLst/>
            <a:cxnLst/>
            <a:rect r="r" b="b" t="t" l="l"/>
            <a:pathLst>
              <a:path h="1164960" w="1138076">
                <a:moveTo>
                  <a:pt x="0" y="0"/>
                </a:moveTo>
                <a:lnTo>
                  <a:pt x="1138076" y="0"/>
                </a:lnTo>
                <a:lnTo>
                  <a:pt x="1138076" y="1164960"/>
                </a:lnTo>
                <a:lnTo>
                  <a:pt x="0" y="1164960"/>
                </a:lnTo>
                <a:lnTo>
                  <a:pt x="0" y="0"/>
                </a:lnTo>
                <a:close/>
              </a:path>
            </a:pathLst>
          </a:custGeom>
          <a:blipFill>
            <a:blip r:embed="rId2"/>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2B303"/>
        </a:solidFill>
      </p:bgPr>
    </p:bg>
    <p:spTree>
      <p:nvGrpSpPr>
        <p:cNvPr id="1" name=""/>
        <p:cNvGrpSpPr/>
        <p:nvPr/>
      </p:nvGrpSpPr>
      <p:grpSpPr>
        <a:xfrm>
          <a:off x="0" y="0"/>
          <a:ext cx="0" cy="0"/>
          <a:chOff x="0" y="0"/>
          <a:chExt cx="0" cy="0"/>
        </a:xfrm>
      </p:grpSpPr>
      <p:grpSp>
        <p:nvGrpSpPr>
          <p:cNvPr name="Group 2" id="2"/>
          <p:cNvGrpSpPr/>
          <p:nvPr/>
        </p:nvGrpSpPr>
        <p:grpSpPr>
          <a:xfrm rot="0">
            <a:off x="795493" y="795493"/>
            <a:ext cx="16690817" cy="8734903"/>
            <a:chOff x="0" y="0"/>
            <a:chExt cx="4395935" cy="2300551"/>
          </a:xfrm>
        </p:grpSpPr>
        <p:sp>
          <p:nvSpPr>
            <p:cNvPr name="Freeform 3" id="3"/>
            <p:cNvSpPr/>
            <p:nvPr/>
          </p:nvSpPr>
          <p:spPr>
            <a:xfrm flipH="false" flipV="false" rot="0">
              <a:off x="0" y="0"/>
              <a:ext cx="4395935" cy="2300551"/>
            </a:xfrm>
            <a:custGeom>
              <a:avLst/>
              <a:gdLst/>
              <a:ahLst/>
              <a:cxnLst/>
              <a:rect r="r" b="b" t="t" l="l"/>
              <a:pathLst>
                <a:path h="2300551" w="4395935">
                  <a:moveTo>
                    <a:pt x="0" y="0"/>
                  </a:moveTo>
                  <a:lnTo>
                    <a:pt x="4395935" y="0"/>
                  </a:lnTo>
                  <a:lnTo>
                    <a:pt x="4395935" y="2300551"/>
                  </a:lnTo>
                  <a:lnTo>
                    <a:pt x="0" y="2300551"/>
                  </a:lnTo>
                  <a:close/>
                </a:path>
              </a:pathLst>
            </a:custGeom>
            <a:solidFill>
              <a:srgbClr val="FDFEFF"/>
            </a:solidFill>
          </p:spPr>
        </p:sp>
        <p:sp>
          <p:nvSpPr>
            <p:cNvPr name="TextBox 4" id="4"/>
            <p:cNvSpPr txBox="true"/>
            <p:nvPr/>
          </p:nvSpPr>
          <p:spPr>
            <a:xfrm>
              <a:off x="0" y="-47625"/>
              <a:ext cx="4395935" cy="2348176"/>
            </a:xfrm>
            <a:prstGeom prst="rect">
              <a:avLst/>
            </a:prstGeom>
          </p:spPr>
          <p:txBody>
            <a:bodyPr anchor="ctr" rtlCol="false" tIns="50800" lIns="50800" bIns="50800" rIns="50800"/>
            <a:lstStyle/>
            <a:p>
              <a:pPr algn="ctr" marL="0" indent="0" lvl="0">
                <a:lnSpc>
                  <a:spcPts val="3497"/>
                </a:lnSpc>
              </a:pPr>
            </a:p>
          </p:txBody>
        </p:sp>
      </p:grpSp>
      <p:sp>
        <p:nvSpPr>
          <p:cNvPr name="TextBox 5" id="5"/>
          <p:cNvSpPr txBox="true"/>
          <p:nvPr/>
        </p:nvSpPr>
        <p:spPr>
          <a:xfrm rot="0">
            <a:off x="1804637" y="4380183"/>
            <a:ext cx="14861354" cy="3014091"/>
          </a:xfrm>
          <a:prstGeom prst="rect">
            <a:avLst/>
          </a:prstGeom>
        </p:spPr>
        <p:txBody>
          <a:bodyPr anchor="t" rtlCol="false" tIns="0" lIns="0" bIns="0" rIns="0">
            <a:spAutoFit/>
          </a:bodyPr>
          <a:lstStyle/>
          <a:p>
            <a:pPr algn="l" marL="690881" indent="-345440" lvl="1">
              <a:lnSpc>
                <a:spcPts val="4032"/>
              </a:lnSpc>
              <a:buFont typeface="Arial"/>
              <a:buChar char="•"/>
            </a:pPr>
            <a:r>
              <a:rPr lang="en-US" sz="3200">
                <a:solidFill>
                  <a:srgbClr val="10265D"/>
                </a:solidFill>
                <a:latin typeface="Gowun Dodum"/>
                <a:ea typeface="Gowun Dodum"/>
                <a:cs typeface="Gowun Dodum"/>
                <a:sym typeface="Gowun Dodum"/>
              </a:rPr>
              <a:t>1907: Louis Lapicque introduces the integrate-and-fire neuron model, establishing the foundation for quantitative neuroscience</a:t>
            </a:r>
          </a:p>
          <a:p>
            <a:pPr algn="l" marL="690881" indent="-345440" lvl="1">
              <a:lnSpc>
                <a:spcPts val="4032"/>
              </a:lnSpc>
              <a:buFont typeface="Arial"/>
              <a:buChar char="•"/>
            </a:pPr>
            <a:r>
              <a:rPr lang="en-US" sz="3200">
                <a:solidFill>
                  <a:srgbClr val="10265D"/>
                </a:solidFill>
                <a:latin typeface="Gowun Dodum"/>
                <a:ea typeface="Gowun Dodum"/>
                <a:cs typeface="Gowun Dodum"/>
                <a:sym typeface="Gowun Dodum"/>
              </a:rPr>
              <a:t>Early insights revealed how membrane potential dynamics govern spike generation through charge accumulation</a:t>
            </a:r>
          </a:p>
          <a:p>
            <a:pPr algn="l" marL="690881" indent="-345440" lvl="1">
              <a:lnSpc>
                <a:spcPts val="4032"/>
              </a:lnSpc>
              <a:buFont typeface="Arial"/>
              <a:buChar char="•"/>
            </a:pPr>
            <a:r>
              <a:rPr lang="en-US" sz="3200">
                <a:solidFill>
                  <a:srgbClr val="10265D"/>
                </a:solidFill>
                <a:latin typeface="Gowun Dodum"/>
                <a:ea typeface="Gowun Dodum"/>
                <a:cs typeface="Gowun Dodum"/>
                <a:sym typeface="Gowun Dodum"/>
              </a:rPr>
              <a:t>Modern implementations power computational neuroscience simulations, enabling large-scale brain modeling and neural network research</a:t>
            </a:r>
          </a:p>
        </p:txBody>
      </p:sp>
      <p:sp>
        <p:nvSpPr>
          <p:cNvPr name="TextBox 6" id="6"/>
          <p:cNvSpPr txBox="true"/>
          <p:nvPr/>
        </p:nvSpPr>
        <p:spPr>
          <a:xfrm rot="0">
            <a:off x="2122906" y="982885"/>
            <a:ext cx="14344657" cy="2797174"/>
          </a:xfrm>
          <a:prstGeom prst="rect">
            <a:avLst/>
          </a:prstGeom>
        </p:spPr>
        <p:txBody>
          <a:bodyPr anchor="t" rtlCol="false" tIns="0" lIns="0" bIns="0" rIns="0">
            <a:spAutoFit/>
          </a:bodyPr>
          <a:lstStyle/>
          <a:p>
            <a:pPr algn="ctr">
              <a:lnSpc>
                <a:spcPts val="11200"/>
              </a:lnSpc>
              <a:spcBef>
                <a:spcPct val="0"/>
              </a:spcBef>
            </a:pPr>
            <a:r>
              <a:rPr lang="en-US" b="true" sz="8000">
                <a:solidFill>
                  <a:srgbClr val="183965"/>
                </a:solidFill>
                <a:latin typeface="League Spartan"/>
                <a:ea typeface="League Spartan"/>
                <a:cs typeface="League Spartan"/>
                <a:sym typeface="League Spartan"/>
              </a:rPr>
              <a:t>Historical Development of LIF Models</a:t>
            </a:r>
          </a:p>
        </p:txBody>
      </p:sp>
      <p:grpSp>
        <p:nvGrpSpPr>
          <p:cNvPr name="Group 7" id="7"/>
          <p:cNvGrpSpPr/>
          <p:nvPr/>
        </p:nvGrpSpPr>
        <p:grpSpPr>
          <a:xfrm rot="0">
            <a:off x="16725911" y="-298199"/>
            <a:ext cx="1804637" cy="180463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2B5C">
                <a:alpha val="37647"/>
              </a:srgbClr>
            </a:solidFill>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0" id="10"/>
          <p:cNvGrpSpPr/>
          <p:nvPr/>
        </p:nvGrpSpPr>
        <p:grpSpPr>
          <a:xfrm rot="0">
            <a:off x="16442070" y="84547"/>
            <a:ext cx="1804637" cy="180463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2B5C"/>
            </a:soli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3" id="13"/>
          <p:cNvGrpSpPr/>
          <p:nvPr/>
        </p:nvGrpSpPr>
        <p:grpSpPr>
          <a:xfrm rot="0">
            <a:off x="-341897" y="8741996"/>
            <a:ext cx="1804637" cy="180463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2B5C">
                <a:alpha val="37647"/>
              </a:srgbClr>
            </a:solidFill>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6" id="16"/>
          <p:cNvGrpSpPr/>
          <p:nvPr/>
        </p:nvGrpSpPr>
        <p:grpSpPr>
          <a:xfrm rot="0">
            <a:off x="0" y="9021094"/>
            <a:ext cx="1804637" cy="180463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2B5C"/>
            </a:solidFill>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sp>
        <p:nvSpPr>
          <p:cNvPr name="Freeform 19" id="19"/>
          <p:cNvSpPr/>
          <p:nvPr/>
        </p:nvSpPr>
        <p:spPr>
          <a:xfrm flipH="false" flipV="false" rot="0">
            <a:off x="17149924" y="9122040"/>
            <a:ext cx="1138076" cy="1164960"/>
          </a:xfrm>
          <a:custGeom>
            <a:avLst/>
            <a:gdLst/>
            <a:ahLst/>
            <a:cxnLst/>
            <a:rect r="r" b="b" t="t" l="l"/>
            <a:pathLst>
              <a:path h="1164960" w="1138076">
                <a:moveTo>
                  <a:pt x="0" y="0"/>
                </a:moveTo>
                <a:lnTo>
                  <a:pt x="1138076" y="0"/>
                </a:lnTo>
                <a:lnTo>
                  <a:pt x="1138076" y="1164960"/>
                </a:lnTo>
                <a:lnTo>
                  <a:pt x="0" y="1164960"/>
                </a:lnTo>
                <a:lnTo>
                  <a:pt x="0" y="0"/>
                </a:lnTo>
                <a:close/>
              </a:path>
            </a:pathLst>
          </a:custGeom>
          <a:blipFill>
            <a:blip r:embed="rId2"/>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DFEFF"/>
        </a:solidFill>
      </p:bgPr>
    </p:bg>
    <p:spTree>
      <p:nvGrpSpPr>
        <p:cNvPr id="1" name=""/>
        <p:cNvGrpSpPr/>
        <p:nvPr/>
      </p:nvGrpSpPr>
      <p:grpSpPr>
        <a:xfrm>
          <a:off x="0" y="0"/>
          <a:ext cx="0" cy="0"/>
          <a:chOff x="0" y="0"/>
          <a:chExt cx="0" cy="0"/>
        </a:xfrm>
      </p:grpSpPr>
      <p:sp>
        <p:nvSpPr>
          <p:cNvPr name="TextBox 2" id="2"/>
          <p:cNvSpPr txBox="true"/>
          <p:nvPr/>
        </p:nvSpPr>
        <p:spPr>
          <a:xfrm rot="0">
            <a:off x="3674566" y="1332512"/>
            <a:ext cx="11162746" cy="2870933"/>
          </a:xfrm>
          <a:prstGeom prst="rect">
            <a:avLst/>
          </a:prstGeom>
        </p:spPr>
        <p:txBody>
          <a:bodyPr anchor="t" rtlCol="false" tIns="0" lIns="0" bIns="0" rIns="0">
            <a:spAutoFit/>
          </a:bodyPr>
          <a:lstStyle/>
          <a:p>
            <a:pPr algn="ctr" marL="0" indent="0" lvl="0">
              <a:lnSpc>
                <a:spcPts val="7659"/>
              </a:lnSpc>
              <a:spcBef>
                <a:spcPct val="0"/>
              </a:spcBef>
            </a:pPr>
            <a:r>
              <a:rPr lang="en-US" b="true" sz="5471">
                <a:solidFill>
                  <a:srgbClr val="183965"/>
                </a:solidFill>
                <a:latin typeface="League Spartan"/>
                <a:ea typeface="League Spartan"/>
                <a:cs typeface="League Spartan"/>
                <a:sym typeface="League Spartan"/>
              </a:rPr>
              <a:t>The Leaky Integrator: Biological and Electrical Analogy</a:t>
            </a:r>
          </a:p>
        </p:txBody>
      </p:sp>
      <p:sp>
        <p:nvSpPr>
          <p:cNvPr name="TextBox 3" id="3"/>
          <p:cNvSpPr txBox="true"/>
          <p:nvPr/>
        </p:nvSpPr>
        <p:spPr>
          <a:xfrm rot="0">
            <a:off x="1502359" y="4068317"/>
            <a:ext cx="7176607" cy="4498305"/>
          </a:xfrm>
          <a:prstGeom prst="rect">
            <a:avLst/>
          </a:prstGeom>
        </p:spPr>
        <p:txBody>
          <a:bodyPr anchor="t" rtlCol="false" tIns="0" lIns="0" bIns="0" rIns="0">
            <a:spAutoFit/>
          </a:bodyPr>
          <a:lstStyle/>
          <a:p>
            <a:pPr algn="l">
              <a:lnSpc>
                <a:spcPts val="3256"/>
              </a:lnSpc>
            </a:pPr>
            <a:r>
              <a:rPr lang="en-US" sz="2605">
                <a:solidFill>
                  <a:srgbClr val="10265D"/>
                </a:solidFill>
                <a:latin typeface="Gowun Dodum"/>
                <a:ea typeface="Gowun Dodum"/>
                <a:cs typeface="Gowun Dodum"/>
                <a:sym typeface="Gowun Dodum"/>
              </a:rPr>
              <a:t>The RC Circuit Model</a:t>
            </a:r>
          </a:p>
          <a:p>
            <a:pPr algn="l" marL="562547" indent="-281273" lvl="1">
              <a:lnSpc>
                <a:spcPts val="3256"/>
              </a:lnSpc>
              <a:buFont typeface="Arial"/>
              <a:buChar char="•"/>
            </a:pPr>
            <a:r>
              <a:rPr lang="en-US" sz="2605">
                <a:solidFill>
                  <a:srgbClr val="10265D"/>
                </a:solidFill>
                <a:latin typeface="Gowun Dodum"/>
                <a:ea typeface="Gowun Dodum"/>
                <a:cs typeface="Gowun Dodum"/>
                <a:sym typeface="Gowun Dodum"/>
              </a:rPr>
              <a:t>The neuron membrane behaves remarkably like a resistor-capacitor (RC) circuit from electrical engineering. The lipid bilayer acts as a capacitor, storing electrical charge, while ion channels function as resistors allowing current to flow.</a:t>
            </a:r>
          </a:p>
          <a:p>
            <a:pPr algn="l" marL="562547" indent="-281273" lvl="1">
              <a:lnSpc>
                <a:spcPts val="3256"/>
              </a:lnSpc>
              <a:buFont typeface="Arial"/>
              <a:buChar char="•"/>
            </a:pPr>
            <a:r>
              <a:rPr lang="en-US" sz="2605">
                <a:solidFill>
                  <a:srgbClr val="10265D"/>
                </a:solidFill>
                <a:latin typeface="Gowun Dodum"/>
                <a:ea typeface="Gowun Dodum"/>
                <a:cs typeface="Gowun Dodum"/>
                <a:sym typeface="Gowun Dodum"/>
              </a:rPr>
              <a:t>This elegant analogy allows us to describe complex biological processes using well-understood electrical principles, making neural dynamics mathematically tractable.</a:t>
            </a:r>
          </a:p>
        </p:txBody>
      </p:sp>
      <p:sp>
        <p:nvSpPr>
          <p:cNvPr name="TextBox 4" id="4"/>
          <p:cNvSpPr txBox="true"/>
          <p:nvPr/>
        </p:nvSpPr>
        <p:spPr>
          <a:xfrm rot="0">
            <a:off x="9582508" y="4068317"/>
            <a:ext cx="7176607" cy="4088730"/>
          </a:xfrm>
          <a:prstGeom prst="rect">
            <a:avLst/>
          </a:prstGeom>
        </p:spPr>
        <p:txBody>
          <a:bodyPr anchor="t" rtlCol="false" tIns="0" lIns="0" bIns="0" rIns="0">
            <a:spAutoFit/>
          </a:bodyPr>
          <a:lstStyle/>
          <a:p>
            <a:pPr algn="l">
              <a:lnSpc>
                <a:spcPts val="3256"/>
              </a:lnSpc>
            </a:pPr>
            <a:r>
              <a:rPr lang="en-US" sz="2605">
                <a:solidFill>
                  <a:srgbClr val="10265D"/>
                </a:solidFill>
                <a:latin typeface="Gowun Dodum"/>
                <a:ea typeface="Gowun Dodum"/>
                <a:cs typeface="Gowun Dodum"/>
                <a:sym typeface="Gowun Dodum"/>
              </a:rPr>
              <a:t>Integration and Leak</a:t>
            </a:r>
          </a:p>
          <a:p>
            <a:pPr algn="l" marL="562547" indent="-281273" lvl="1">
              <a:lnSpc>
                <a:spcPts val="3256"/>
              </a:lnSpc>
              <a:buFont typeface="Arial"/>
              <a:buChar char="•"/>
            </a:pPr>
            <a:r>
              <a:rPr lang="en-US" sz="2605">
                <a:solidFill>
                  <a:srgbClr val="10265D"/>
                </a:solidFill>
                <a:latin typeface="Gowun Dodum"/>
                <a:ea typeface="Gowun Dodum"/>
                <a:cs typeface="Gowun Dodum"/>
                <a:sym typeface="Gowun Dodum"/>
              </a:rPr>
              <a:t>The membrane potential integrates incoming synaptic currents over time, but continuously leaks charge back toward resting potential. This "leak" corresponds to passive ion channels that are always partially open.</a:t>
            </a:r>
          </a:p>
          <a:p>
            <a:pPr algn="l" marL="562547" indent="-281273" lvl="1">
              <a:lnSpc>
                <a:spcPts val="3256"/>
              </a:lnSpc>
              <a:buFont typeface="Arial"/>
              <a:buChar char="•"/>
            </a:pPr>
            <a:r>
              <a:rPr lang="en-US" sz="2605">
                <a:solidFill>
                  <a:srgbClr val="10265D"/>
                </a:solidFill>
                <a:latin typeface="Gowun Dodum"/>
                <a:ea typeface="Gowun Dodum"/>
                <a:cs typeface="Gowun Dodum"/>
                <a:sym typeface="Gowun Dodum"/>
              </a:rPr>
              <a:t>The balance between charge accumulation and leakage determines how the neuron responds to inputs—a fundamental principle underlying all LIF dynamics.</a:t>
            </a:r>
          </a:p>
        </p:txBody>
      </p:sp>
      <p:grpSp>
        <p:nvGrpSpPr>
          <p:cNvPr name="Group 5" id="5"/>
          <p:cNvGrpSpPr/>
          <p:nvPr/>
        </p:nvGrpSpPr>
        <p:grpSpPr>
          <a:xfrm rot="0">
            <a:off x="-1814631" y="-2773990"/>
            <a:ext cx="3613090" cy="4482765"/>
            <a:chOff x="0" y="0"/>
            <a:chExt cx="951596" cy="1180646"/>
          </a:xfrm>
        </p:grpSpPr>
        <p:sp>
          <p:nvSpPr>
            <p:cNvPr name="Freeform 6" id="6"/>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alpha val="21961"/>
                </a:srgbClr>
              </a:solidFill>
              <a:prstDash val="solid"/>
              <a:miter/>
            </a:ln>
          </p:spPr>
        </p:sp>
        <p:sp>
          <p:nvSpPr>
            <p:cNvPr name="TextBox 7" id="7"/>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grpSp>
        <p:nvGrpSpPr>
          <p:cNvPr name="Group 8" id="8"/>
          <p:cNvGrpSpPr/>
          <p:nvPr/>
        </p:nvGrpSpPr>
        <p:grpSpPr>
          <a:xfrm rot="0">
            <a:off x="-806829" y="-2129263"/>
            <a:ext cx="3613090" cy="4482765"/>
            <a:chOff x="0" y="0"/>
            <a:chExt cx="951596" cy="1180646"/>
          </a:xfrm>
        </p:grpSpPr>
        <p:sp>
          <p:nvSpPr>
            <p:cNvPr name="Freeform 9" id="9"/>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solidFill>
              <a:prstDash val="solid"/>
              <a:miter/>
            </a:ln>
          </p:spPr>
        </p:sp>
        <p:sp>
          <p:nvSpPr>
            <p:cNvPr name="TextBox 10" id="10"/>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grpSp>
        <p:nvGrpSpPr>
          <p:cNvPr name="Group 11" id="11"/>
          <p:cNvGrpSpPr/>
          <p:nvPr/>
        </p:nvGrpSpPr>
        <p:grpSpPr>
          <a:xfrm rot="0">
            <a:off x="16252466" y="-514350"/>
            <a:ext cx="3086100" cy="30861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65">
                <a:alpha val="45882"/>
              </a:srgbClr>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4" id="14"/>
          <p:cNvGrpSpPr/>
          <p:nvPr/>
        </p:nvGrpSpPr>
        <p:grpSpPr>
          <a:xfrm rot="0">
            <a:off x="15912539" y="565163"/>
            <a:ext cx="3086100" cy="3086100"/>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65"/>
            </a:solidFill>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7" id="17"/>
          <p:cNvGrpSpPr/>
          <p:nvPr/>
        </p:nvGrpSpPr>
        <p:grpSpPr>
          <a:xfrm rot="0">
            <a:off x="16759115" y="8157035"/>
            <a:ext cx="3613090" cy="4482765"/>
            <a:chOff x="0" y="0"/>
            <a:chExt cx="951596" cy="1180646"/>
          </a:xfrm>
        </p:grpSpPr>
        <p:sp>
          <p:nvSpPr>
            <p:cNvPr name="Freeform 18" id="18"/>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alpha val="21961"/>
                </a:srgbClr>
              </a:solidFill>
              <a:prstDash val="solid"/>
              <a:miter/>
            </a:ln>
          </p:spPr>
        </p:sp>
        <p:sp>
          <p:nvSpPr>
            <p:cNvPr name="TextBox 19" id="19"/>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grpSp>
        <p:nvGrpSpPr>
          <p:cNvPr name="Group 20" id="20"/>
          <p:cNvGrpSpPr/>
          <p:nvPr/>
        </p:nvGrpSpPr>
        <p:grpSpPr>
          <a:xfrm rot="0">
            <a:off x="-777845" y="9476215"/>
            <a:ext cx="3613090" cy="4482765"/>
            <a:chOff x="0" y="0"/>
            <a:chExt cx="951596" cy="1180646"/>
          </a:xfrm>
        </p:grpSpPr>
        <p:sp>
          <p:nvSpPr>
            <p:cNvPr name="Freeform 21" id="21"/>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solidFill>
              <a:prstDash val="solid"/>
              <a:miter/>
            </a:ln>
          </p:spPr>
        </p:sp>
        <p:sp>
          <p:nvSpPr>
            <p:cNvPr name="TextBox 22" id="22"/>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sp>
        <p:nvSpPr>
          <p:cNvPr name="Freeform 23" id="23"/>
          <p:cNvSpPr/>
          <p:nvPr/>
        </p:nvSpPr>
        <p:spPr>
          <a:xfrm flipH="false" flipV="false" rot="0">
            <a:off x="17149924" y="9122040"/>
            <a:ext cx="1138076" cy="1164960"/>
          </a:xfrm>
          <a:custGeom>
            <a:avLst/>
            <a:gdLst/>
            <a:ahLst/>
            <a:cxnLst/>
            <a:rect r="r" b="b" t="t" l="l"/>
            <a:pathLst>
              <a:path h="1164960" w="1138076">
                <a:moveTo>
                  <a:pt x="0" y="0"/>
                </a:moveTo>
                <a:lnTo>
                  <a:pt x="1138076" y="0"/>
                </a:lnTo>
                <a:lnTo>
                  <a:pt x="1138076" y="1164960"/>
                </a:lnTo>
                <a:lnTo>
                  <a:pt x="0" y="1164960"/>
                </a:lnTo>
                <a:lnTo>
                  <a:pt x="0" y="0"/>
                </a:lnTo>
                <a:close/>
              </a:path>
            </a:pathLst>
          </a:custGeom>
          <a:blipFill>
            <a:blip r:embed="rId2"/>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111854" y="484619"/>
            <a:ext cx="11406009" cy="2228215"/>
          </a:xfrm>
          <a:prstGeom prst="rect">
            <a:avLst/>
          </a:prstGeom>
        </p:spPr>
        <p:txBody>
          <a:bodyPr anchor="t" rtlCol="false" tIns="0" lIns="0" bIns="0" rIns="0">
            <a:spAutoFit/>
          </a:bodyPr>
          <a:lstStyle/>
          <a:p>
            <a:pPr algn="ctr">
              <a:lnSpc>
                <a:spcPts val="8959"/>
              </a:lnSpc>
              <a:spcBef>
                <a:spcPct val="0"/>
              </a:spcBef>
            </a:pPr>
            <a:r>
              <a:rPr lang="en-US" b="true" sz="6399">
                <a:solidFill>
                  <a:srgbClr val="183965"/>
                </a:solidFill>
                <a:latin typeface="League Spartan"/>
                <a:ea typeface="League Spartan"/>
                <a:cs typeface="League Spartan"/>
                <a:sym typeface="League Spartan"/>
              </a:rPr>
              <a:t>Mathematical Formulation of LIF Dynamics</a:t>
            </a:r>
          </a:p>
        </p:txBody>
      </p:sp>
      <p:sp>
        <p:nvSpPr>
          <p:cNvPr name="TextBox 3" id="3"/>
          <p:cNvSpPr txBox="true"/>
          <p:nvPr/>
        </p:nvSpPr>
        <p:spPr>
          <a:xfrm rot="0">
            <a:off x="1850348" y="4013702"/>
            <a:ext cx="14252779" cy="5134127"/>
          </a:xfrm>
          <a:prstGeom prst="rect">
            <a:avLst/>
          </a:prstGeom>
        </p:spPr>
        <p:txBody>
          <a:bodyPr anchor="t" rtlCol="false" tIns="0" lIns="0" bIns="0" rIns="0">
            <a:spAutoFit/>
          </a:bodyPr>
          <a:lstStyle/>
          <a:p>
            <a:pPr algn="l" marL="642539" indent="-321270" lvl="1">
              <a:lnSpc>
                <a:spcPts val="3720"/>
              </a:lnSpc>
              <a:buFont typeface="Arial"/>
              <a:buChar char="•"/>
            </a:pPr>
            <a:r>
              <a:rPr lang="en-US" sz="2976">
                <a:solidFill>
                  <a:srgbClr val="10265D"/>
                </a:solidFill>
                <a:latin typeface="Gowun Dodum"/>
                <a:ea typeface="Gowun Dodum"/>
                <a:cs typeface="Gowun Dodum"/>
                <a:sym typeface="Gowun Dodum"/>
              </a:rPr>
              <a:t>The core differential equation describing membrane voltage dynamics is:</a:t>
            </a:r>
          </a:p>
          <a:p>
            <a:pPr algn="l" marL="642539" indent="-321270" lvl="1">
              <a:lnSpc>
                <a:spcPts val="3720"/>
              </a:lnSpc>
              <a:buFont typeface="Arial"/>
              <a:buChar char="•"/>
            </a:pPr>
            <a:r>
              <a:rPr lang="en-US" sz="2976">
                <a:solidFill>
                  <a:srgbClr val="10265D"/>
                </a:solidFill>
                <a:latin typeface="Gowun Dodum"/>
                <a:ea typeface="Gowun Dodum"/>
                <a:cs typeface="Gowun Dodum"/>
                <a:sym typeface="Gowun Dodum"/>
              </a:rPr>
              <a:t>dV/dt = -(V - V_rest)/τ + I(t)/C</a:t>
            </a:r>
          </a:p>
          <a:p>
            <a:pPr algn="l">
              <a:lnSpc>
                <a:spcPts val="3720"/>
              </a:lnSpc>
            </a:pPr>
            <a:r>
              <a:rPr lang="en-US" sz="2976">
                <a:solidFill>
                  <a:srgbClr val="10265D"/>
                </a:solidFill>
                <a:latin typeface="Gowun Dodum"/>
                <a:ea typeface="Gowun Dodum"/>
                <a:cs typeface="Gowun Dodum"/>
                <a:sym typeface="Gowun Dodum"/>
              </a:rPr>
              <a:t>Key terms explained:</a:t>
            </a:r>
          </a:p>
          <a:p>
            <a:pPr algn="l" marL="642539" indent="-321270" lvl="1">
              <a:lnSpc>
                <a:spcPts val="3720"/>
              </a:lnSpc>
              <a:buFont typeface="Arial"/>
              <a:buChar char="•"/>
            </a:pPr>
            <a:r>
              <a:rPr lang="en-US" sz="2976">
                <a:solidFill>
                  <a:srgbClr val="10265D"/>
                </a:solidFill>
                <a:latin typeface="Gowun Dodum"/>
                <a:ea typeface="Gowun Dodum"/>
                <a:cs typeface="Gowun Dodum"/>
                <a:sym typeface="Gowun Dodum"/>
              </a:rPr>
              <a:t>V: Membrane potential – the voltage across the neuron membrane at any given time</a:t>
            </a:r>
          </a:p>
          <a:p>
            <a:pPr algn="l" marL="642539" indent="-321270" lvl="1">
              <a:lnSpc>
                <a:spcPts val="3720"/>
              </a:lnSpc>
              <a:buFont typeface="Arial"/>
              <a:buChar char="•"/>
            </a:pPr>
            <a:r>
              <a:rPr lang="en-US" sz="2976">
                <a:solidFill>
                  <a:srgbClr val="10265D"/>
                </a:solidFill>
                <a:latin typeface="Gowun Dodum"/>
                <a:ea typeface="Gowun Dodum"/>
                <a:cs typeface="Gowun Dodum"/>
                <a:sym typeface="Gowun Dodum"/>
              </a:rPr>
              <a:t>V_rest: Resting potential – the baseline voltage when no input is present</a:t>
            </a:r>
          </a:p>
          <a:p>
            <a:pPr algn="l" marL="642539" indent="-321270" lvl="1">
              <a:lnSpc>
                <a:spcPts val="3720"/>
              </a:lnSpc>
              <a:buFont typeface="Arial"/>
              <a:buChar char="•"/>
            </a:pPr>
            <a:r>
              <a:rPr lang="en-US" sz="2976">
                <a:solidFill>
                  <a:srgbClr val="10265D"/>
                </a:solidFill>
                <a:latin typeface="Gowun Dodum"/>
                <a:ea typeface="Gowun Dodum"/>
                <a:cs typeface="Gowun Dodum"/>
                <a:sym typeface="Gowun Dodum"/>
              </a:rPr>
              <a:t>τ (tau): Membrane time constant – determines how quickly voltage decays back to rest</a:t>
            </a:r>
          </a:p>
          <a:p>
            <a:pPr algn="l" marL="642539" indent="-321270" lvl="1">
              <a:lnSpc>
                <a:spcPts val="3720"/>
              </a:lnSpc>
              <a:buFont typeface="Arial"/>
              <a:buChar char="•"/>
            </a:pPr>
            <a:r>
              <a:rPr lang="en-US" sz="2976">
                <a:solidFill>
                  <a:srgbClr val="10265D"/>
                </a:solidFill>
                <a:latin typeface="Gowun Dodum"/>
                <a:ea typeface="Gowun Dodum"/>
                <a:cs typeface="Gowun Dodum"/>
                <a:sym typeface="Gowun Dodum"/>
              </a:rPr>
              <a:t>I(t): Input current – time-varying synaptic or injected current driving the neuron</a:t>
            </a:r>
          </a:p>
          <a:p>
            <a:pPr algn="l" marL="642539" indent="-321270" lvl="1">
              <a:lnSpc>
                <a:spcPts val="3720"/>
              </a:lnSpc>
              <a:buFont typeface="Arial"/>
              <a:buChar char="•"/>
            </a:pPr>
            <a:r>
              <a:rPr lang="en-US" sz="2976">
                <a:solidFill>
                  <a:srgbClr val="10265D"/>
                </a:solidFill>
                <a:latin typeface="Gowun Dodum"/>
                <a:ea typeface="Gowun Dodum"/>
                <a:cs typeface="Gowun Dodum"/>
                <a:sym typeface="Gowun Dodum"/>
              </a:rPr>
              <a:t>C: Capacitance – the membrane's ability to store electrical charge</a:t>
            </a:r>
          </a:p>
          <a:p>
            <a:pPr algn="l">
              <a:lnSpc>
                <a:spcPts val="3720"/>
              </a:lnSpc>
            </a:pPr>
            <a:r>
              <a:rPr lang="en-US" sz="2976">
                <a:solidFill>
                  <a:srgbClr val="10265D"/>
                </a:solidFill>
                <a:latin typeface="Gowun Dodum"/>
                <a:ea typeface="Gowun Dodum"/>
                <a:cs typeface="Gowun Dodum"/>
                <a:sym typeface="Gowun Dodum"/>
              </a:rPr>
              <a:t>This equation captures continuous integration of inputs with exponential decay (leak), forming the mathematical heart of LIF neuron behavior.</a:t>
            </a:r>
          </a:p>
        </p:txBody>
      </p:sp>
      <p:grpSp>
        <p:nvGrpSpPr>
          <p:cNvPr name="Group 4" id="4"/>
          <p:cNvGrpSpPr/>
          <p:nvPr/>
        </p:nvGrpSpPr>
        <p:grpSpPr>
          <a:xfrm rot="0">
            <a:off x="16103127" y="-1206598"/>
            <a:ext cx="5317974" cy="6598016"/>
            <a:chOff x="0" y="0"/>
            <a:chExt cx="951596" cy="1180646"/>
          </a:xfrm>
        </p:grpSpPr>
        <p:sp>
          <p:nvSpPr>
            <p:cNvPr name="Freeform 5" id="5"/>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alpha val="21961"/>
                </a:srgbClr>
              </a:solidFill>
              <a:prstDash val="solid"/>
              <a:miter/>
            </a:ln>
          </p:spPr>
        </p:sp>
        <p:sp>
          <p:nvSpPr>
            <p:cNvPr name="TextBox 6" id="6"/>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grpSp>
        <p:nvGrpSpPr>
          <p:cNvPr name="Group 7" id="7"/>
          <p:cNvGrpSpPr/>
          <p:nvPr/>
        </p:nvGrpSpPr>
        <p:grpSpPr>
          <a:xfrm rot="0">
            <a:off x="17586475" y="-257648"/>
            <a:ext cx="5317974" cy="6598016"/>
            <a:chOff x="0" y="0"/>
            <a:chExt cx="951596" cy="1180646"/>
          </a:xfrm>
        </p:grpSpPr>
        <p:sp>
          <p:nvSpPr>
            <p:cNvPr name="Freeform 8" id="8"/>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solidFill>
              <a:prstDash val="solid"/>
              <a:miter/>
            </a:ln>
          </p:spPr>
        </p:sp>
        <p:sp>
          <p:nvSpPr>
            <p:cNvPr name="TextBox 9" id="9"/>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grpSp>
        <p:nvGrpSpPr>
          <p:cNvPr name="Group 10" id="10"/>
          <p:cNvGrpSpPr/>
          <p:nvPr/>
        </p:nvGrpSpPr>
        <p:grpSpPr>
          <a:xfrm rot="0">
            <a:off x="15779369" y="-1062536"/>
            <a:ext cx="3155411" cy="315541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65"/>
            </a:soli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3" id="13"/>
          <p:cNvGrpSpPr/>
          <p:nvPr/>
        </p:nvGrpSpPr>
        <p:grpSpPr>
          <a:xfrm rot="0">
            <a:off x="16244575" y="177382"/>
            <a:ext cx="2203224" cy="2203224"/>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B303"/>
            </a:solidFill>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6" id="16"/>
          <p:cNvGrpSpPr/>
          <p:nvPr/>
        </p:nvGrpSpPr>
        <p:grpSpPr>
          <a:xfrm rot="0">
            <a:off x="-1305063" y="-442577"/>
            <a:ext cx="3155411" cy="315541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65"/>
            </a:solidFill>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9" id="19"/>
          <p:cNvGrpSpPr/>
          <p:nvPr/>
        </p:nvGrpSpPr>
        <p:grpSpPr>
          <a:xfrm rot="0">
            <a:off x="-1500611" y="797341"/>
            <a:ext cx="2863978" cy="2863978"/>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B303"/>
            </a:solidFill>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sp>
        <p:nvSpPr>
          <p:cNvPr name="Freeform 22" id="22"/>
          <p:cNvSpPr/>
          <p:nvPr/>
        </p:nvSpPr>
        <p:spPr>
          <a:xfrm flipH="false" flipV="false" rot="0">
            <a:off x="17149924" y="9122040"/>
            <a:ext cx="1138076" cy="1164960"/>
          </a:xfrm>
          <a:custGeom>
            <a:avLst/>
            <a:gdLst/>
            <a:ahLst/>
            <a:cxnLst/>
            <a:rect r="r" b="b" t="t" l="l"/>
            <a:pathLst>
              <a:path h="1164960" w="1138076">
                <a:moveTo>
                  <a:pt x="0" y="0"/>
                </a:moveTo>
                <a:lnTo>
                  <a:pt x="1138076" y="0"/>
                </a:lnTo>
                <a:lnTo>
                  <a:pt x="1138076" y="1164960"/>
                </a:lnTo>
                <a:lnTo>
                  <a:pt x="0" y="1164960"/>
                </a:lnTo>
                <a:lnTo>
                  <a:pt x="0" y="0"/>
                </a:lnTo>
                <a:close/>
              </a:path>
            </a:pathLst>
          </a:custGeom>
          <a:blipFill>
            <a:blip r:embed="rId2"/>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p:cSld>
    <p:bg>
      <p:bgPr>
        <a:solidFill>
          <a:srgbClr val="E2B303"/>
        </a:solidFill>
      </p:bgPr>
    </p:bg>
    <p:spTree>
      <p:nvGrpSpPr>
        <p:cNvPr id="1" name=""/>
        <p:cNvGrpSpPr/>
        <p:nvPr/>
      </p:nvGrpSpPr>
      <p:grpSpPr>
        <a:xfrm>
          <a:off x="0" y="0"/>
          <a:ext cx="0" cy="0"/>
          <a:chOff x="0" y="0"/>
          <a:chExt cx="0" cy="0"/>
        </a:xfrm>
      </p:grpSpPr>
      <p:grpSp>
        <p:nvGrpSpPr>
          <p:cNvPr name="Group 2" id="2"/>
          <p:cNvGrpSpPr/>
          <p:nvPr/>
        </p:nvGrpSpPr>
        <p:grpSpPr>
          <a:xfrm rot="0">
            <a:off x="795493" y="795493"/>
            <a:ext cx="16690817" cy="8734903"/>
            <a:chOff x="0" y="0"/>
            <a:chExt cx="4395935" cy="2300551"/>
          </a:xfrm>
        </p:grpSpPr>
        <p:sp>
          <p:nvSpPr>
            <p:cNvPr name="Freeform 3" id="3"/>
            <p:cNvSpPr/>
            <p:nvPr/>
          </p:nvSpPr>
          <p:spPr>
            <a:xfrm flipH="false" flipV="false" rot="0">
              <a:off x="0" y="0"/>
              <a:ext cx="4395935" cy="2300551"/>
            </a:xfrm>
            <a:custGeom>
              <a:avLst/>
              <a:gdLst/>
              <a:ahLst/>
              <a:cxnLst/>
              <a:rect r="r" b="b" t="t" l="l"/>
              <a:pathLst>
                <a:path h="2300551" w="4395935">
                  <a:moveTo>
                    <a:pt x="0" y="0"/>
                  </a:moveTo>
                  <a:lnTo>
                    <a:pt x="4395935" y="0"/>
                  </a:lnTo>
                  <a:lnTo>
                    <a:pt x="4395935" y="2300551"/>
                  </a:lnTo>
                  <a:lnTo>
                    <a:pt x="0" y="2300551"/>
                  </a:lnTo>
                  <a:close/>
                </a:path>
              </a:pathLst>
            </a:custGeom>
            <a:solidFill>
              <a:srgbClr val="FDFEFF"/>
            </a:solidFill>
          </p:spPr>
        </p:sp>
        <p:sp>
          <p:nvSpPr>
            <p:cNvPr name="TextBox 4" id="4"/>
            <p:cNvSpPr txBox="true"/>
            <p:nvPr/>
          </p:nvSpPr>
          <p:spPr>
            <a:xfrm>
              <a:off x="0" y="-47625"/>
              <a:ext cx="4395935" cy="2348176"/>
            </a:xfrm>
            <a:prstGeom prst="rect">
              <a:avLst/>
            </a:prstGeom>
          </p:spPr>
          <p:txBody>
            <a:bodyPr anchor="ctr" rtlCol="false" tIns="50800" lIns="50800" bIns="50800" rIns="50800"/>
            <a:lstStyle/>
            <a:p>
              <a:pPr algn="ctr" marL="0" indent="0" lvl="0">
                <a:lnSpc>
                  <a:spcPts val="3497"/>
                </a:lnSpc>
              </a:pPr>
            </a:p>
          </p:txBody>
        </p:sp>
      </p:grpSp>
      <p:sp>
        <p:nvSpPr>
          <p:cNvPr name="TextBox 5" id="5"/>
          <p:cNvSpPr txBox="true"/>
          <p:nvPr/>
        </p:nvSpPr>
        <p:spPr>
          <a:xfrm rot="0">
            <a:off x="1713323" y="4010923"/>
            <a:ext cx="14861354" cy="3967386"/>
          </a:xfrm>
          <a:prstGeom prst="rect">
            <a:avLst/>
          </a:prstGeom>
        </p:spPr>
        <p:txBody>
          <a:bodyPr anchor="t" rtlCol="false" tIns="0" lIns="0" bIns="0" rIns="0">
            <a:spAutoFit/>
          </a:bodyPr>
          <a:lstStyle/>
          <a:p>
            <a:pPr algn="l" marL="668352" indent="-334176" lvl="1">
              <a:lnSpc>
                <a:spcPts val="3900"/>
              </a:lnSpc>
              <a:buFont typeface="Arial"/>
              <a:buChar char="•"/>
            </a:pPr>
            <a:r>
              <a:rPr lang="en-US" sz="3095">
                <a:solidFill>
                  <a:srgbClr val="10265D"/>
                </a:solidFill>
                <a:latin typeface="Gowun Dodum"/>
                <a:ea typeface="Gowun Dodum"/>
                <a:cs typeface="Gowun Dodum"/>
                <a:sym typeface="Gowun Dodum"/>
              </a:rPr>
              <a:t>When the membrane potential V reaches the threshold voltage V_th, the neuron emits a spike. In the LIF model, this spike is treated as an instantaneous event—there is no detailed spike shape or action potential waveform modeled.</a:t>
            </a:r>
          </a:p>
          <a:p>
            <a:pPr algn="l" marL="668352" indent="-334176" lvl="1">
              <a:lnSpc>
                <a:spcPts val="3900"/>
              </a:lnSpc>
              <a:buFont typeface="Arial"/>
              <a:buChar char="•"/>
            </a:pPr>
            <a:r>
              <a:rPr lang="en-US" sz="3095">
                <a:solidFill>
                  <a:srgbClr val="10265D"/>
                </a:solidFill>
                <a:latin typeface="Gowun Dodum"/>
                <a:ea typeface="Gowun Dodum"/>
                <a:cs typeface="Gowun Dodum"/>
                <a:sym typeface="Gowun Dodum"/>
              </a:rPr>
              <a:t>Immediately after firing, the membrane potential resets to V_reset, which is typically at or below the resting potential. This reset mechanism ensures the neuron returns to a baseline state, ready to integrate new inputs and potentially fire again.</a:t>
            </a:r>
          </a:p>
          <a:p>
            <a:pPr algn="l" marL="668352" indent="-334176" lvl="1">
              <a:lnSpc>
                <a:spcPts val="3900"/>
              </a:lnSpc>
              <a:buFont typeface="Arial"/>
              <a:buChar char="•"/>
            </a:pPr>
            <a:r>
              <a:rPr lang="en-US" sz="3095">
                <a:solidFill>
                  <a:srgbClr val="10265D"/>
                </a:solidFill>
                <a:latin typeface="Gowun Dodum"/>
                <a:ea typeface="Gowun Dodum"/>
                <a:cs typeface="Gowun Dodum"/>
                <a:sym typeface="Gowun Dodum"/>
              </a:rPr>
              <a:t>This threshold-and-reset behavior captures the essential all-or-nothing nature of neural spiking while maintaining computational simplicity.</a:t>
            </a:r>
          </a:p>
        </p:txBody>
      </p:sp>
      <p:sp>
        <p:nvSpPr>
          <p:cNvPr name="TextBox 6" id="6"/>
          <p:cNvSpPr txBox="true"/>
          <p:nvPr/>
        </p:nvSpPr>
        <p:spPr>
          <a:xfrm rot="0">
            <a:off x="2097413" y="1382613"/>
            <a:ext cx="14344657" cy="2228215"/>
          </a:xfrm>
          <a:prstGeom prst="rect">
            <a:avLst/>
          </a:prstGeom>
        </p:spPr>
        <p:txBody>
          <a:bodyPr anchor="t" rtlCol="false" tIns="0" lIns="0" bIns="0" rIns="0">
            <a:spAutoFit/>
          </a:bodyPr>
          <a:lstStyle/>
          <a:p>
            <a:pPr algn="ctr" marL="0" indent="0" lvl="0">
              <a:lnSpc>
                <a:spcPts val="8959"/>
              </a:lnSpc>
              <a:spcBef>
                <a:spcPct val="0"/>
              </a:spcBef>
            </a:pPr>
            <a:r>
              <a:rPr lang="en-US" b="true" sz="6399">
                <a:solidFill>
                  <a:srgbClr val="183965"/>
                </a:solidFill>
                <a:latin typeface="League Spartan"/>
                <a:ea typeface="League Spartan"/>
                <a:cs typeface="League Spartan"/>
                <a:sym typeface="League Spartan"/>
              </a:rPr>
              <a:t>Threshold Mechanism and Spike Generation</a:t>
            </a:r>
          </a:p>
        </p:txBody>
      </p:sp>
      <p:grpSp>
        <p:nvGrpSpPr>
          <p:cNvPr name="Group 7" id="7"/>
          <p:cNvGrpSpPr/>
          <p:nvPr/>
        </p:nvGrpSpPr>
        <p:grpSpPr>
          <a:xfrm rot="0">
            <a:off x="16725911" y="-298199"/>
            <a:ext cx="1804637" cy="180463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2B5C">
                <a:alpha val="37647"/>
              </a:srgbClr>
            </a:solidFill>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0" id="10"/>
          <p:cNvGrpSpPr/>
          <p:nvPr/>
        </p:nvGrpSpPr>
        <p:grpSpPr>
          <a:xfrm rot="0">
            <a:off x="16442070" y="84547"/>
            <a:ext cx="1804637" cy="180463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2B5C"/>
            </a:soli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3" id="13"/>
          <p:cNvGrpSpPr/>
          <p:nvPr/>
        </p:nvGrpSpPr>
        <p:grpSpPr>
          <a:xfrm rot="0">
            <a:off x="-341897" y="8741996"/>
            <a:ext cx="1804637" cy="180463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2B5C">
                <a:alpha val="37647"/>
              </a:srgbClr>
            </a:solidFill>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6" id="16"/>
          <p:cNvGrpSpPr/>
          <p:nvPr/>
        </p:nvGrpSpPr>
        <p:grpSpPr>
          <a:xfrm rot="0">
            <a:off x="0" y="9021094"/>
            <a:ext cx="1804637" cy="180463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2B5C"/>
            </a:solidFill>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DFEFF"/>
        </a:solidFill>
      </p:bgPr>
    </p:bg>
    <p:spTree>
      <p:nvGrpSpPr>
        <p:cNvPr id="1" name=""/>
        <p:cNvGrpSpPr/>
        <p:nvPr/>
      </p:nvGrpSpPr>
      <p:grpSpPr>
        <a:xfrm>
          <a:off x="0" y="0"/>
          <a:ext cx="0" cy="0"/>
          <a:chOff x="0" y="0"/>
          <a:chExt cx="0" cy="0"/>
        </a:xfrm>
      </p:grpSpPr>
      <p:sp>
        <p:nvSpPr>
          <p:cNvPr name="TextBox 2" id="2"/>
          <p:cNvSpPr txBox="true"/>
          <p:nvPr/>
        </p:nvSpPr>
        <p:spPr>
          <a:xfrm rot="0">
            <a:off x="2620142" y="630614"/>
            <a:ext cx="13047715" cy="2228215"/>
          </a:xfrm>
          <a:prstGeom prst="rect">
            <a:avLst/>
          </a:prstGeom>
        </p:spPr>
        <p:txBody>
          <a:bodyPr anchor="t" rtlCol="false" tIns="0" lIns="0" bIns="0" rIns="0">
            <a:spAutoFit/>
          </a:bodyPr>
          <a:lstStyle/>
          <a:p>
            <a:pPr algn="ctr">
              <a:lnSpc>
                <a:spcPts val="8960"/>
              </a:lnSpc>
              <a:spcBef>
                <a:spcPct val="0"/>
              </a:spcBef>
            </a:pPr>
            <a:r>
              <a:rPr lang="en-US" b="true" sz="6400">
                <a:solidFill>
                  <a:srgbClr val="183965"/>
                </a:solidFill>
                <a:latin typeface="League Spartan"/>
                <a:ea typeface="League Spartan"/>
                <a:cs typeface="League Spartan"/>
                <a:sym typeface="League Spartan"/>
              </a:rPr>
              <a:t>Reset Dynamics and Refractory Periods</a:t>
            </a:r>
          </a:p>
        </p:txBody>
      </p:sp>
      <p:sp>
        <p:nvSpPr>
          <p:cNvPr name="TextBox 3" id="3"/>
          <p:cNvSpPr txBox="true"/>
          <p:nvPr/>
        </p:nvSpPr>
        <p:spPr>
          <a:xfrm rot="0">
            <a:off x="1280656" y="3390434"/>
            <a:ext cx="7176607" cy="5029800"/>
          </a:xfrm>
          <a:prstGeom prst="rect">
            <a:avLst/>
          </a:prstGeom>
        </p:spPr>
        <p:txBody>
          <a:bodyPr anchor="t" rtlCol="false" tIns="0" lIns="0" bIns="0" rIns="0">
            <a:spAutoFit/>
          </a:bodyPr>
          <a:lstStyle/>
          <a:p>
            <a:pPr algn="l">
              <a:lnSpc>
                <a:spcPts val="3631"/>
              </a:lnSpc>
            </a:pPr>
            <a:r>
              <a:rPr lang="en-US" sz="2905">
                <a:solidFill>
                  <a:srgbClr val="10265D"/>
                </a:solidFill>
                <a:latin typeface="Gowun Dodum"/>
                <a:ea typeface="Gowun Dodum"/>
                <a:cs typeface="Gowun Dodum"/>
                <a:sym typeface="Gowun Dodum"/>
              </a:rPr>
              <a:t>Reset Voltage Mechanism</a:t>
            </a:r>
          </a:p>
          <a:p>
            <a:pPr algn="l" marL="627315" indent="-313658" lvl="1">
              <a:lnSpc>
                <a:spcPts val="3631"/>
              </a:lnSpc>
              <a:buFont typeface="Arial"/>
              <a:buChar char="•"/>
            </a:pPr>
            <a:r>
              <a:rPr lang="en-US" sz="2905">
                <a:solidFill>
                  <a:srgbClr val="10265D"/>
                </a:solidFill>
                <a:latin typeface="Gowun Dodum"/>
                <a:ea typeface="Gowun Dodum"/>
                <a:cs typeface="Gowun Dodum"/>
                <a:sym typeface="Gowun Dodum"/>
              </a:rPr>
              <a:t>After a neuron fires a spike, the membrane potential is instantaneously reset to a value called V_reset. </a:t>
            </a:r>
          </a:p>
          <a:p>
            <a:pPr algn="l" marL="627315" indent="-313658" lvl="1">
              <a:lnSpc>
                <a:spcPts val="3631"/>
              </a:lnSpc>
              <a:buFont typeface="Arial"/>
              <a:buChar char="•"/>
            </a:pPr>
            <a:r>
              <a:rPr lang="en-US" sz="2905">
                <a:solidFill>
                  <a:srgbClr val="10265D"/>
                </a:solidFill>
                <a:latin typeface="Gowun Dodum"/>
                <a:ea typeface="Gowun Dodum"/>
                <a:cs typeface="Gowun Dodum"/>
                <a:sym typeface="Gowun Dodum"/>
              </a:rPr>
              <a:t>This reset voltage is typically below the resting potential, ensuring the neuron returns to a baseline state. </a:t>
            </a:r>
          </a:p>
          <a:p>
            <a:pPr algn="l" marL="627315" indent="-313658" lvl="1">
              <a:lnSpc>
                <a:spcPts val="3631"/>
              </a:lnSpc>
              <a:buFont typeface="Arial"/>
              <a:buChar char="•"/>
            </a:pPr>
            <a:r>
              <a:rPr lang="en-US" sz="2905">
                <a:solidFill>
                  <a:srgbClr val="10265D"/>
                </a:solidFill>
                <a:latin typeface="Gowun Dodum"/>
                <a:ea typeface="Gowun Dodum"/>
                <a:cs typeface="Gowun Dodum"/>
                <a:sym typeface="Gowun Dodum"/>
              </a:rPr>
              <a:t>The reset mechanism is crucial for maintaining consistent firing behavior and preventing runaway excitation in neural circuits.</a:t>
            </a:r>
          </a:p>
        </p:txBody>
      </p:sp>
      <p:sp>
        <p:nvSpPr>
          <p:cNvPr name="TextBox 4" id="4"/>
          <p:cNvSpPr txBox="true"/>
          <p:nvPr/>
        </p:nvSpPr>
        <p:spPr>
          <a:xfrm rot="0">
            <a:off x="9215290" y="3390434"/>
            <a:ext cx="7413091" cy="5487000"/>
          </a:xfrm>
          <a:prstGeom prst="rect">
            <a:avLst/>
          </a:prstGeom>
        </p:spPr>
        <p:txBody>
          <a:bodyPr anchor="t" rtlCol="false" tIns="0" lIns="0" bIns="0" rIns="0">
            <a:spAutoFit/>
          </a:bodyPr>
          <a:lstStyle/>
          <a:p>
            <a:pPr algn="l">
              <a:lnSpc>
                <a:spcPts val="3631"/>
              </a:lnSpc>
            </a:pPr>
            <a:r>
              <a:rPr lang="en-US" sz="2905">
                <a:solidFill>
                  <a:srgbClr val="10265D"/>
                </a:solidFill>
                <a:latin typeface="Gowun Dodum"/>
                <a:ea typeface="Gowun Dodum"/>
                <a:cs typeface="Gowun Dodum"/>
                <a:sym typeface="Gowun Dodum"/>
              </a:rPr>
              <a:t>Refractory Period and Timing Control</a:t>
            </a:r>
          </a:p>
          <a:p>
            <a:pPr algn="l" marL="627315" indent="-313658" lvl="1">
              <a:lnSpc>
                <a:spcPts val="3631"/>
              </a:lnSpc>
              <a:buFont typeface="Arial"/>
              <a:buChar char="•"/>
            </a:pPr>
            <a:r>
              <a:rPr lang="en-US" sz="2905">
                <a:solidFill>
                  <a:srgbClr val="10265D"/>
                </a:solidFill>
                <a:latin typeface="Gowun Dodum"/>
                <a:ea typeface="Gowun Dodum"/>
                <a:cs typeface="Gowun Dodum"/>
                <a:sym typeface="Gowun Dodum"/>
              </a:rPr>
              <a:t>Following a spike, neurons enter a refractory period during which they cannot fire again.</a:t>
            </a:r>
          </a:p>
          <a:p>
            <a:pPr algn="l" marL="627315" indent="-313658" lvl="1">
              <a:lnSpc>
                <a:spcPts val="3631"/>
              </a:lnSpc>
              <a:buFont typeface="Arial"/>
              <a:buChar char="•"/>
            </a:pPr>
            <a:r>
              <a:rPr lang="en-US" sz="2905">
                <a:solidFill>
                  <a:srgbClr val="10265D"/>
                </a:solidFill>
                <a:latin typeface="Gowun Dodum"/>
                <a:ea typeface="Gowun Dodum"/>
                <a:cs typeface="Gowun Dodum"/>
                <a:sym typeface="Gowun Dodum"/>
              </a:rPr>
              <a:t>The absolute refractory period prevents any firing, while the relative refractory period requires stronger input to trigger a spike. </a:t>
            </a:r>
          </a:p>
          <a:p>
            <a:pPr algn="l" marL="627315" indent="-313658" lvl="1">
              <a:lnSpc>
                <a:spcPts val="3631"/>
              </a:lnSpc>
              <a:buFont typeface="Arial"/>
              <a:buChar char="•"/>
            </a:pPr>
            <a:r>
              <a:rPr lang="en-US" sz="2905">
                <a:solidFill>
                  <a:srgbClr val="10265D"/>
                </a:solidFill>
                <a:latin typeface="Gowun Dodum"/>
                <a:ea typeface="Gowun Dodum"/>
                <a:cs typeface="Gowun Dodum"/>
                <a:sym typeface="Gowun Dodum"/>
              </a:rPr>
              <a:t>This biological recovery time is essential for controlling firing patterns, regulating maximum firing rates, and ensuring precise temporal coding in neural networks.</a:t>
            </a:r>
          </a:p>
        </p:txBody>
      </p:sp>
      <p:grpSp>
        <p:nvGrpSpPr>
          <p:cNvPr name="Group 5" id="5"/>
          <p:cNvGrpSpPr/>
          <p:nvPr/>
        </p:nvGrpSpPr>
        <p:grpSpPr>
          <a:xfrm rot="0">
            <a:off x="-1814631" y="-2773990"/>
            <a:ext cx="3613090" cy="4482765"/>
            <a:chOff x="0" y="0"/>
            <a:chExt cx="951596" cy="1180646"/>
          </a:xfrm>
        </p:grpSpPr>
        <p:sp>
          <p:nvSpPr>
            <p:cNvPr name="Freeform 6" id="6"/>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alpha val="21961"/>
                </a:srgbClr>
              </a:solidFill>
              <a:prstDash val="solid"/>
              <a:miter/>
            </a:ln>
          </p:spPr>
        </p:sp>
        <p:sp>
          <p:nvSpPr>
            <p:cNvPr name="TextBox 7" id="7"/>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grpSp>
        <p:nvGrpSpPr>
          <p:cNvPr name="Group 8" id="8"/>
          <p:cNvGrpSpPr/>
          <p:nvPr/>
        </p:nvGrpSpPr>
        <p:grpSpPr>
          <a:xfrm rot="0">
            <a:off x="-806829" y="-2129263"/>
            <a:ext cx="3613090" cy="4482765"/>
            <a:chOff x="0" y="0"/>
            <a:chExt cx="951596" cy="1180646"/>
          </a:xfrm>
        </p:grpSpPr>
        <p:sp>
          <p:nvSpPr>
            <p:cNvPr name="Freeform 9" id="9"/>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solidFill>
              <a:prstDash val="solid"/>
              <a:miter/>
            </a:ln>
          </p:spPr>
        </p:sp>
        <p:sp>
          <p:nvSpPr>
            <p:cNvPr name="TextBox 10" id="10"/>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grpSp>
        <p:nvGrpSpPr>
          <p:cNvPr name="Group 11" id="11"/>
          <p:cNvGrpSpPr/>
          <p:nvPr/>
        </p:nvGrpSpPr>
        <p:grpSpPr>
          <a:xfrm rot="0">
            <a:off x="16252466" y="-514350"/>
            <a:ext cx="3086100" cy="30861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65">
                <a:alpha val="45882"/>
              </a:srgbClr>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4" id="14"/>
          <p:cNvGrpSpPr/>
          <p:nvPr/>
        </p:nvGrpSpPr>
        <p:grpSpPr>
          <a:xfrm rot="0">
            <a:off x="15912539" y="565163"/>
            <a:ext cx="3086100" cy="3086100"/>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65"/>
            </a:solidFill>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7" id="17"/>
          <p:cNvGrpSpPr/>
          <p:nvPr/>
        </p:nvGrpSpPr>
        <p:grpSpPr>
          <a:xfrm rot="0">
            <a:off x="-777845" y="9476215"/>
            <a:ext cx="3613090" cy="4482765"/>
            <a:chOff x="0" y="0"/>
            <a:chExt cx="951596" cy="1180646"/>
          </a:xfrm>
        </p:grpSpPr>
        <p:sp>
          <p:nvSpPr>
            <p:cNvPr name="Freeform 18" id="18"/>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solidFill>
              <a:prstDash val="solid"/>
              <a:miter/>
            </a:ln>
          </p:spPr>
        </p:sp>
        <p:sp>
          <p:nvSpPr>
            <p:cNvPr name="TextBox 19" id="19"/>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sp>
        <p:nvSpPr>
          <p:cNvPr name="Freeform 20" id="20"/>
          <p:cNvSpPr/>
          <p:nvPr/>
        </p:nvSpPr>
        <p:spPr>
          <a:xfrm flipH="false" flipV="false" rot="0">
            <a:off x="17149924" y="9122040"/>
            <a:ext cx="1138076" cy="1164960"/>
          </a:xfrm>
          <a:custGeom>
            <a:avLst/>
            <a:gdLst/>
            <a:ahLst/>
            <a:cxnLst/>
            <a:rect r="r" b="b" t="t" l="l"/>
            <a:pathLst>
              <a:path h="1164960" w="1138076">
                <a:moveTo>
                  <a:pt x="0" y="0"/>
                </a:moveTo>
                <a:lnTo>
                  <a:pt x="1138076" y="0"/>
                </a:lnTo>
                <a:lnTo>
                  <a:pt x="1138076" y="1164960"/>
                </a:lnTo>
                <a:lnTo>
                  <a:pt x="0" y="1164960"/>
                </a:lnTo>
                <a:lnTo>
                  <a:pt x="0" y="0"/>
                </a:lnTo>
                <a:close/>
              </a:path>
            </a:pathLst>
          </a:custGeom>
          <a:blipFill>
            <a:blip r:embed="rId2"/>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DFEFF"/>
        </a:solidFill>
      </p:bgPr>
    </p:bg>
    <p:spTree>
      <p:nvGrpSpPr>
        <p:cNvPr id="1" name=""/>
        <p:cNvGrpSpPr/>
        <p:nvPr/>
      </p:nvGrpSpPr>
      <p:grpSpPr>
        <a:xfrm>
          <a:off x="0" y="0"/>
          <a:ext cx="0" cy="0"/>
          <a:chOff x="0" y="0"/>
          <a:chExt cx="0" cy="0"/>
        </a:xfrm>
      </p:grpSpPr>
      <p:sp>
        <p:nvSpPr>
          <p:cNvPr name="TextBox 2" id="2"/>
          <p:cNvSpPr txBox="true"/>
          <p:nvPr/>
        </p:nvSpPr>
        <p:spPr>
          <a:xfrm rot="0">
            <a:off x="2136359" y="813145"/>
            <a:ext cx="13357000" cy="2228215"/>
          </a:xfrm>
          <a:prstGeom prst="rect">
            <a:avLst/>
          </a:prstGeom>
        </p:spPr>
        <p:txBody>
          <a:bodyPr anchor="t" rtlCol="false" tIns="0" lIns="0" bIns="0" rIns="0">
            <a:spAutoFit/>
          </a:bodyPr>
          <a:lstStyle/>
          <a:p>
            <a:pPr algn="ctr">
              <a:lnSpc>
                <a:spcPts val="8959"/>
              </a:lnSpc>
              <a:spcBef>
                <a:spcPct val="0"/>
              </a:spcBef>
            </a:pPr>
            <a:r>
              <a:rPr lang="en-US" b="true" sz="6399">
                <a:solidFill>
                  <a:srgbClr val="183965"/>
                </a:solidFill>
                <a:latin typeface="League Spartan"/>
                <a:ea typeface="League Spartan"/>
                <a:cs typeface="League Spartan"/>
                <a:sym typeface="League Spartan"/>
              </a:rPr>
              <a:t>Subthreshold Integration of Synaptic Inputs</a:t>
            </a:r>
          </a:p>
        </p:txBody>
      </p:sp>
      <p:sp>
        <p:nvSpPr>
          <p:cNvPr name="TextBox 3" id="3"/>
          <p:cNvSpPr txBox="true"/>
          <p:nvPr/>
        </p:nvSpPr>
        <p:spPr>
          <a:xfrm rot="0">
            <a:off x="1850348" y="4013702"/>
            <a:ext cx="14252779" cy="5031417"/>
          </a:xfrm>
          <a:prstGeom prst="rect">
            <a:avLst/>
          </a:prstGeom>
        </p:spPr>
        <p:txBody>
          <a:bodyPr anchor="t" rtlCol="false" tIns="0" lIns="0" bIns="0" rIns="0">
            <a:spAutoFit/>
          </a:bodyPr>
          <a:lstStyle/>
          <a:p>
            <a:pPr algn="l" marL="572313" indent="-286156" lvl="1">
              <a:lnSpc>
                <a:spcPts val="3313"/>
              </a:lnSpc>
              <a:buFont typeface="Arial"/>
              <a:buChar char="•"/>
            </a:pPr>
            <a:r>
              <a:rPr lang="en-US" sz="2650">
                <a:solidFill>
                  <a:srgbClr val="10265D"/>
                </a:solidFill>
                <a:latin typeface="Gowun Dodum"/>
                <a:ea typeface="Gowun Dodum"/>
                <a:cs typeface="Gowun Dodum"/>
                <a:sym typeface="Gowun Dodum"/>
              </a:rPr>
              <a:t>Neurons continuously receive synaptic inputs from thousands of presynaptic neurons. </a:t>
            </a:r>
          </a:p>
          <a:p>
            <a:pPr algn="l" marL="572313" indent="-286156" lvl="1">
              <a:lnSpc>
                <a:spcPts val="3313"/>
              </a:lnSpc>
              <a:buFont typeface="Arial"/>
              <a:buChar char="•"/>
            </a:pPr>
            <a:r>
              <a:rPr lang="en-US" sz="2650">
                <a:solidFill>
                  <a:srgbClr val="10265D"/>
                </a:solidFill>
                <a:latin typeface="Gowun Dodum"/>
                <a:ea typeface="Gowun Dodum"/>
                <a:cs typeface="Gowun Dodum"/>
                <a:sym typeface="Gowun Dodum"/>
              </a:rPr>
              <a:t>These inputs are summed together as the total input current I(t), which drives changes in membrane potential. </a:t>
            </a:r>
          </a:p>
          <a:p>
            <a:pPr algn="l" marL="572313" indent="-286156" lvl="1">
              <a:lnSpc>
                <a:spcPts val="3313"/>
              </a:lnSpc>
              <a:buFont typeface="Arial"/>
              <a:buChar char="•"/>
            </a:pPr>
            <a:r>
              <a:rPr lang="en-US" sz="2650">
                <a:solidFill>
                  <a:srgbClr val="10265D"/>
                </a:solidFill>
                <a:latin typeface="Gowun Dodum"/>
                <a:ea typeface="Gowun Dodum"/>
                <a:cs typeface="Gowun Dodum"/>
                <a:sym typeface="Gowun Dodum"/>
              </a:rPr>
              <a:t>The membrane time constant τ determines how quickly the neuron integrates these inputs over time—longer time constants allow for temporal summation of inputs arriving at different moments.</a:t>
            </a:r>
          </a:p>
          <a:p>
            <a:pPr algn="l" marL="572313" indent="-286156" lvl="1">
              <a:lnSpc>
                <a:spcPts val="3313"/>
              </a:lnSpc>
              <a:buFont typeface="Arial"/>
              <a:buChar char="•"/>
            </a:pPr>
            <a:r>
              <a:rPr lang="en-US" sz="2650">
                <a:solidFill>
                  <a:srgbClr val="10265D"/>
                </a:solidFill>
                <a:latin typeface="Gowun Dodum"/>
                <a:ea typeface="Gowun Dodum"/>
                <a:cs typeface="Gowun Dodum"/>
                <a:sym typeface="Gowun Dodum"/>
              </a:rPr>
              <a:t>This integration process means the neuron acts as a temporal filter: it smooths rapid fluctuations in input while responding to sustained or synchronized activity. </a:t>
            </a:r>
          </a:p>
          <a:p>
            <a:pPr algn="l" marL="572313" indent="-286156" lvl="1">
              <a:lnSpc>
                <a:spcPts val="3313"/>
              </a:lnSpc>
              <a:buFont typeface="Arial"/>
              <a:buChar char="•"/>
            </a:pPr>
            <a:r>
              <a:rPr lang="en-US" sz="2650">
                <a:solidFill>
                  <a:srgbClr val="10265D"/>
                </a:solidFill>
                <a:latin typeface="Gowun Dodum"/>
                <a:ea typeface="Gowun Dodum"/>
                <a:cs typeface="Gowun Dodum"/>
                <a:sym typeface="Gowun Dodum"/>
              </a:rPr>
              <a:t>Inputs arriving within the time window defined by τ are effectively combined, while those separated by longer intervals are processed more independently. </a:t>
            </a:r>
          </a:p>
          <a:p>
            <a:pPr algn="l" marL="572313" indent="-286156" lvl="1">
              <a:lnSpc>
                <a:spcPts val="3313"/>
              </a:lnSpc>
              <a:buFont typeface="Arial"/>
              <a:buChar char="•"/>
            </a:pPr>
            <a:r>
              <a:rPr lang="en-US" sz="2650">
                <a:solidFill>
                  <a:srgbClr val="10265D"/>
                </a:solidFill>
                <a:latin typeface="Gowun Dodum"/>
                <a:ea typeface="Gowun Dodum"/>
                <a:cs typeface="Gowun Dodum"/>
                <a:sym typeface="Gowun Dodum"/>
              </a:rPr>
              <a:t>This filtering property is fundamental to how neurons extract meaningful signals from noisy synaptic input streams.</a:t>
            </a:r>
          </a:p>
        </p:txBody>
      </p:sp>
      <p:grpSp>
        <p:nvGrpSpPr>
          <p:cNvPr name="Group 4" id="4"/>
          <p:cNvGrpSpPr/>
          <p:nvPr/>
        </p:nvGrpSpPr>
        <p:grpSpPr>
          <a:xfrm rot="0">
            <a:off x="16103127" y="-1206598"/>
            <a:ext cx="5317974" cy="6598016"/>
            <a:chOff x="0" y="0"/>
            <a:chExt cx="951596" cy="1180646"/>
          </a:xfrm>
        </p:grpSpPr>
        <p:sp>
          <p:nvSpPr>
            <p:cNvPr name="Freeform 5" id="5"/>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alpha val="21961"/>
                </a:srgbClr>
              </a:solidFill>
              <a:prstDash val="solid"/>
              <a:miter/>
            </a:ln>
          </p:spPr>
        </p:sp>
        <p:sp>
          <p:nvSpPr>
            <p:cNvPr name="TextBox 6" id="6"/>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grpSp>
        <p:nvGrpSpPr>
          <p:cNvPr name="Group 7" id="7"/>
          <p:cNvGrpSpPr/>
          <p:nvPr/>
        </p:nvGrpSpPr>
        <p:grpSpPr>
          <a:xfrm rot="0">
            <a:off x="17586475" y="-257648"/>
            <a:ext cx="5317974" cy="6598016"/>
            <a:chOff x="0" y="0"/>
            <a:chExt cx="951596" cy="1180646"/>
          </a:xfrm>
        </p:grpSpPr>
        <p:sp>
          <p:nvSpPr>
            <p:cNvPr name="Freeform 8" id="8"/>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solidFill>
              <a:prstDash val="solid"/>
              <a:miter/>
            </a:ln>
          </p:spPr>
        </p:sp>
        <p:sp>
          <p:nvSpPr>
            <p:cNvPr name="TextBox 9" id="9"/>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grpSp>
        <p:nvGrpSpPr>
          <p:cNvPr name="Group 10" id="10"/>
          <p:cNvGrpSpPr/>
          <p:nvPr/>
        </p:nvGrpSpPr>
        <p:grpSpPr>
          <a:xfrm rot="0">
            <a:off x="15779369" y="-1062536"/>
            <a:ext cx="3155411" cy="315541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65"/>
            </a:soli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3" id="13"/>
          <p:cNvGrpSpPr/>
          <p:nvPr/>
        </p:nvGrpSpPr>
        <p:grpSpPr>
          <a:xfrm rot="0">
            <a:off x="16244575" y="177382"/>
            <a:ext cx="2203224" cy="2203224"/>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6" id="16"/>
          <p:cNvGrpSpPr/>
          <p:nvPr/>
        </p:nvGrpSpPr>
        <p:grpSpPr>
          <a:xfrm rot="0">
            <a:off x="-1305063" y="-442577"/>
            <a:ext cx="3155411" cy="315541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65"/>
            </a:solidFill>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9" id="19"/>
          <p:cNvGrpSpPr/>
          <p:nvPr/>
        </p:nvGrpSpPr>
        <p:grpSpPr>
          <a:xfrm rot="0">
            <a:off x="-1500611" y="797341"/>
            <a:ext cx="2863978" cy="2863978"/>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sp>
        <p:nvSpPr>
          <p:cNvPr name="Freeform 22" id="22"/>
          <p:cNvSpPr/>
          <p:nvPr/>
        </p:nvSpPr>
        <p:spPr>
          <a:xfrm flipH="false" flipV="false" rot="0">
            <a:off x="17149924" y="9122040"/>
            <a:ext cx="1138076" cy="1164960"/>
          </a:xfrm>
          <a:custGeom>
            <a:avLst/>
            <a:gdLst/>
            <a:ahLst/>
            <a:cxnLst/>
            <a:rect r="r" b="b" t="t" l="l"/>
            <a:pathLst>
              <a:path h="1164960" w="1138076">
                <a:moveTo>
                  <a:pt x="0" y="0"/>
                </a:moveTo>
                <a:lnTo>
                  <a:pt x="1138076" y="0"/>
                </a:lnTo>
                <a:lnTo>
                  <a:pt x="1138076" y="1164960"/>
                </a:lnTo>
                <a:lnTo>
                  <a:pt x="0" y="1164960"/>
                </a:lnTo>
                <a:lnTo>
                  <a:pt x="0" y="0"/>
                </a:lnTo>
                <a:close/>
              </a:path>
            </a:pathLst>
          </a:custGeom>
          <a:blipFill>
            <a:blip r:embed="rId2"/>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DFEFF"/>
        </a:solidFill>
      </p:bgPr>
    </p:bg>
    <p:spTree>
      <p:nvGrpSpPr>
        <p:cNvPr id="1" name=""/>
        <p:cNvGrpSpPr/>
        <p:nvPr/>
      </p:nvGrpSpPr>
      <p:grpSpPr>
        <a:xfrm>
          <a:off x="0" y="0"/>
          <a:ext cx="0" cy="0"/>
          <a:chOff x="0" y="0"/>
          <a:chExt cx="0" cy="0"/>
        </a:xfrm>
      </p:grpSpPr>
      <p:sp>
        <p:nvSpPr>
          <p:cNvPr name="TextBox 2" id="2"/>
          <p:cNvSpPr txBox="true"/>
          <p:nvPr/>
        </p:nvSpPr>
        <p:spPr>
          <a:xfrm rot="0">
            <a:off x="3115481" y="2624360"/>
            <a:ext cx="12057037" cy="1623957"/>
          </a:xfrm>
          <a:prstGeom prst="rect">
            <a:avLst/>
          </a:prstGeom>
        </p:spPr>
        <p:txBody>
          <a:bodyPr anchor="t" rtlCol="false" tIns="0" lIns="0" bIns="0" rIns="0">
            <a:spAutoFit/>
          </a:bodyPr>
          <a:lstStyle/>
          <a:p>
            <a:pPr algn="ctr" marL="0" indent="0" lvl="0">
              <a:lnSpc>
                <a:spcPts val="13390"/>
              </a:lnSpc>
            </a:pPr>
            <a:r>
              <a:rPr lang="en-US" b="true" sz="9564">
                <a:solidFill>
                  <a:srgbClr val="183965"/>
                </a:solidFill>
                <a:latin typeface="League Spartan"/>
                <a:ea typeface="League Spartan"/>
                <a:cs typeface="League Spartan"/>
                <a:sym typeface="League Spartan"/>
              </a:rPr>
              <a:t>Why It Matters</a:t>
            </a:r>
          </a:p>
        </p:txBody>
      </p:sp>
      <p:sp>
        <p:nvSpPr>
          <p:cNvPr name="TextBox 3" id="3"/>
          <p:cNvSpPr txBox="true"/>
          <p:nvPr/>
        </p:nvSpPr>
        <p:spPr>
          <a:xfrm rot="0">
            <a:off x="1935236" y="5095875"/>
            <a:ext cx="6761058" cy="931683"/>
          </a:xfrm>
          <a:prstGeom prst="rect">
            <a:avLst/>
          </a:prstGeom>
        </p:spPr>
        <p:txBody>
          <a:bodyPr anchor="t" rtlCol="false" tIns="0" lIns="0" bIns="0" rIns="0">
            <a:spAutoFit/>
          </a:bodyPr>
          <a:lstStyle/>
          <a:p>
            <a:pPr algn="l" marL="581761" indent="-290880" lvl="1">
              <a:lnSpc>
                <a:spcPts val="3772"/>
              </a:lnSpc>
              <a:buFont typeface="Arial"/>
              <a:buChar char="•"/>
            </a:pPr>
            <a:r>
              <a:rPr lang="en-US" sz="2694">
                <a:solidFill>
                  <a:srgbClr val="10265D"/>
                </a:solidFill>
                <a:latin typeface="Gowun Dodum"/>
                <a:ea typeface="Gowun Dodum"/>
                <a:cs typeface="Gowun Dodum"/>
                <a:sym typeface="Gowun Dodum"/>
              </a:rPr>
              <a:t>Foundation for understanding neural computation and information processing</a:t>
            </a:r>
          </a:p>
        </p:txBody>
      </p:sp>
      <p:sp>
        <p:nvSpPr>
          <p:cNvPr name="TextBox 4" id="4"/>
          <p:cNvSpPr txBox="true"/>
          <p:nvPr/>
        </p:nvSpPr>
        <p:spPr>
          <a:xfrm rot="0">
            <a:off x="9749984" y="5095875"/>
            <a:ext cx="6144007" cy="931683"/>
          </a:xfrm>
          <a:prstGeom prst="rect">
            <a:avLst/>
          </a:prstGeom>
        </p:spPr>
        <p:txBody>
          <a:bodyPr anchor="t" rtlCol="false" tIns="0" lIns="0" bIns="0" rIns="0">
            <a:spAutoFit/>
          </a:bodyPr>
          <a:lstStyle/>
          <a:p>
            <a:pPr algn="l" marL="581761" indent="-290880" lvl="1">
              <a:lnSpc>
                <a:spcPts val="3772"/>
              </a:lnSpc>
              <a:buFont typeface="Arial"/>
              <a:buChar char="•"/>
            </a:pPr>
            <a:r>
              <a:rPr lang="en-US" sz="2694">
                <a:solidFill>
                  <a:srgbClr val="10265D"/>
                </a:solidFill>
                <a:latin typeface="Gowun Dodum"/>
                <a:ea typeface="Gowun Dodum"/>
                <a:cs typeface="Gowun Dodum"/>
                <a:sym typeface="Gowun Dodum"/>
              </a:rPr>
              <a:t>Widely used in large-scale brain simulations</a:t>
            </a:r>
          </a:p>
        </p:txBody>
      </p:sp>
      <p:sp>
        <p:nvSpPr>
          <p:cNvPr name="TextBox 5" id="5"/>
          <p:cNvSpPr txBox="true"/>
          <p:nvPr/>
        </p:nvSpPr>
        <p:spPr>
          <a:xfrm rot="0">
            <a:off x="9749984" y="7794448"/>
            <a:ext cx="6439601" cy="455433"/>
          </a:xfrm>
          <a:prstGeom prst="rect">
            <a:avLst/>
          </a:prstGeom>
        </p:spPr>
        <p:txBody>
          <a:bodyPr anchor="t" rtlCol="false" tIns="0" lIns="0" bIns="0" rIns="0">
            <a:spAutoFit/>
          </a:bodyPr>
          <a:lstStyle/>
          <a:p>
            <a:pPr algn="l" marL="581761" indent="-290880" lvl="1">
              <a:lnSpc>
                <a:spcPts val="3772"/>
              </a:lnSpc>
              <a:buFont typeface="Arial"/>
              <a:buChar char="•"/>
            </a:pPr>
            <a:r>
              <a:rPr lang="en-US" sz="2694">
                <a:solidFill>
                  <a:srgbClr val="10265D"/>
                </a:solidFill>
                <a:latin typeface="Gowun Dodum"/>
                <a:ea typeface="Gowun Dodum"/>
                <a:cs typeface="Gowun Dodum"/>
                <a:sym typeface="Gowun Dodum"/>
              </a:rPr>
              <a:t>Essential for neural network modeling</a:t>
            </a:r>
          </a:p>
        </p:txBody>
      </p:sp>
      <p:sp>
        <p:nvSpPr>
          <p:cNvPr name="TextBox 6" id="6"/>
          <p:cNvSpPr txBox="true"/>
          <p:nvPr/>
        </p:nvSpPr>
        <p:spPr>
          <a:xfrm rot="0">
            <a:off x="1935236" y="6725067"/>
            <a:ext cx="6208240" cy="913030"/>
          </a:xfrm>
          <a:prstGeom prst="rect">
            <a:avLst/>
          </a:prstGeom>
        </p:spPr>
        <p:txBody>
          <a:bodyPr anchor="t" rtlCol="false" tIns="0" lIns="0" bIns="0" rIns="0">
            <a:spAutoFit/>
          </a:bodyPr>
          <a:lstStyle/>
          <a:p>
            <a:pPr algn="l" marL="581761" indent="-290880" lvl="1">
              <a:lnSpc>
                <a:spcPts val="2344"/>
              </a:lnSpc>
              <a:buFont typeface="Arial"/>
              <a:buChar char="•"/>
            </a:pPr>
            <a:r>
              <a:rPr lang="en-US" sz="2694">
                <a:solidFill>
                  <a:srgbClr val="10265D"/>
                </a:solidFill>
                <a:latin typeface="Gowun Dodum"/>
                <a:ea typeface="Gowun Dodum"/>
                <a:cs typeface="Gowun Dodum"/>
                <a:sym typeface="Gowun Dodum"/>
              </a:rPr>
              <a:t>Connected to experimental data from patch clamp and intracellular recordings</a:t>
            </a:r>
          </a:p>
        </p:txBody>
      </p:sp>
      <p:sp>
        <p:nvSpPr>
          <p:cNvPr name="TextBox 7" id="7"/>
          <p:cNvSpPr txBox="true"/>
          <p:nvPr/>
        </p:nvSpPr>
        <p:spPr>
          <a:xfrm rot="0">
            <a:off x="1935236" y="8084014"/>
            <a:ext cx="5781245" cy="931683"/>
          </a:xfrm>
          <a:prstGeom prst="rect">
            <a:avLst/>
          </a:prstGeom>
        </p:spPr>
        <p:txBody>
          <a:bodyPr anchor="t" rtlCol="false" tIns="0" lIns="0" bIns="0" rIns="0">
            <a:spAutoFit/>
          </a:bodyPr>
          <a:lstStyle/>
          <a:p>
            <a:pPr algn="l" marL="581761" indent="-290880" lvl="1">
              <a:lnSpc>
                <a:spcPts val="3772"/>
              </a:lnSpc>
              <a:buFont typeface="Arial"/>
              <a:buChar char="•"/>
            </a:pPr>
            <a:r>
              <a:rPr lang="en-US" sz="2694">
                <a:solidFill>
                  <a:srgbClr val="10265D"/>
                </a:solidFill>
                <a:latin typeface="Gowun Dodum"/>
                <a:ea typeface="Gowun Dodum"/>
                <a:cs typeface="Gowun Dodum"/>
                <a:sym typeface="Gowun Dodum"/>
              </a:rPr>
              <a:t>Enables computational analysis of neural circuits</a:t>
            </a:r>
          </a:p>
        </p:txBody>
      </p:sp>
      <p:sp>
        <p:nvSpPr>
          <p:cNvPr name="TextBox 8" id="8"/>
          <p:cNvSpPr txBox="true"/>
          <p:nvPr/>
        </p:nvSpPr>
        <p:spPr>
          <a:xfrm rot="0">
            <a:off x="9749984" y="6423818"/>
            <a:ext cx="6008382" cy="931683"/>
          </a:xfrm>
          <a:prstGeom prst="rect">
            <a:avLst/>
          </a:prstGeom>
        </p:spPr>
        <p:txBody>
          <a:bodyPr anchor="t" rtlCol="false" tIns="0" lIns="0" bIns="0" rIns="0">
            <a:spAutoFit/>
          </a:bodyPr>
          <a:lstStyle/>
          <a:p>
            <a:pPr algn="l" marL="581761" indent="-290880" lvl="1">
              <a:lnSpc>
                <a:spcPts val="3772"/>
              </a:lnSpc>
              <a:buFont typeface="Arial"/>
              <a:buChar char="•"/>
            </a:pPr>
            <a:r>
              <a:rPr lang="en-US" sz="2694">
                <a:solidFill>
                  <a:srgbClr val="10265D"/>
                </a:solidFill>
                <a:latin typeface="Gowun Dodum"/>
                <a:ea typeface="Gowun Dodum"/>
                <a:cs typeface="Gowun Dodum"/>
                <a:sym typeface="Gowun Dodum"/>
              </a:rPr>
              <a:t>Supports building and analyzing computational neuron models</a:t>
            </a:r>
          </a:p>
        </p:txBody>
      </p:sp>
      <p:grpSp>
        <p:nvGrpSpPr>
          <p:cNvPr name="Group 9" id="9"/>
          <p:cNvGrpSpPr/>
          <p:nvPr/>
        </p:nvGrpSpPr>
        <p:grpSpPr>
          <a:xfrm rot="0">
            <a:off x="-1785648" y="-879346"/>
            <a:ext cx="3613090" cy="4482765"/>
            <a:chOff x="0" y="0"/>
            <a:chExt cx="951596" cy="1180646"/>
          </a:xfrm>
        </p:grpSpPr>
        <p:sp>
          <p:nvSpPr>
            <p:cNvPr name="Freeform 10" id="10"/>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alpha val="21961"/>
                </a:srgbClr>
              </a:solidFill>
              <a:prstDash val="solid"/>
              <a:miter/>
            </a:ln>
          </p:spPr>
        </p:sp>
        <p:sp>
          <p:nvSpPr>
            <p:cNvPr name="TextBox 11" id="11"/>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grpSp>
        <p:nvGrpSpPr>
          <p:cNvPr name="Group 12" id="12"/>
          <p:cNvGrpSpPr/>
          <p:nvPr/>
        </p:nvGrpSpPr>
        <p:grpSpPr>
          <a:xfrm rot="0">
            <a:off x="-777845" y="-234619"/>
            <a:ext cx="3613090" cy="4482765"/>
            <a:chOff x="0" y="0"/>
            <a:chExt cx="951596" cy="1180646"/>
          </a:xfrm>
        </p:grpSpPr>
        <p:sp>
          <p:nvSpPr>
            <p:cNvPr name="Freeform 13" id="13"/>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solidFill>
              <a:prstDash val="solid"/>
              <a:miter/>
            </a:ln>
          </p:spPr>
        </p:sp>
        <p:sp>
          <p:nvSpPr>
            <p:cNvPr name="TextBox 14" id="14"/>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grpSp>
        <p:nvGrpSpPr>
          <p:cNvPr name="Group 15" id="15"/>
          <p:cNvGrpSpPr/>
          <p:nvPr/>
        </p:nvGrpSpPr>
        <p:grpSpPr>
          <a:xfrm rot="0">
            <a:off x="16087125" y="8249881"/>
            <a:ext cx="2801069" cy="2801069"/>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B303"/>
            </a:solidFill>
          </p:spPr>
        </p:sp>
        <p:sp>
          <p:nvSpPr>
            <p:cNvPr name="TextBox 17" id="17"/>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8" id="18"/>
          <p:cNvGrpSpPr/>
          <p:nvPr/>
        </p:nvGrpSpPr>
        <p:grpSpPr>
          <a:xfrm rot="0">
            <a:off x="14924098" y="8886466"/>
            <a:ext cx="2801069" cy="2801069"/>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2B5C"/>
            </a:solidFill>
          </p:spPr>
        </p:sp>
        <p:sp>
          <p:nvSpPr>
            <p:cNvPr name="TextBox 20" id="20"/>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21" id="21"/>
          <p:cNvGrpSpPr/>
          <p:nvPr/>
        </p:nvGrpSpPr>
        <p:grpSpPr>
          <a:xfrm rot="0">
            <a:off x="16087125" y="-371834"/>
            <a:ext cx="2801069" cy="2801069"/>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2B5C">
                <a:alpha val="37647"/>
              </a:srgbClr>
            </a:solidFill>
          </p:spPr>
        </p:sp>
        <p:sp>
          <p:nvSpPr>
            <p:cNvPr name="TextBox 23" id="23"/>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24" id="24"/>
          <p:cNvGrpSpPr/>
          <p:nvPr/>
        </p:nvGrpSpPr>
        <p:grpSpPr>
          <a:xfrm rot="0">
            <a:off x="15646560" y="222245"/>
            <a:ext cx="2801069" cy="2801069"/>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2B5C"/>
            </a:solidFill>
          </p:spPr>
        </p:sp>
        <p:sp>
          <p:nvSpPr>
            <p:cNvPr name="TextBox 26" id="26"/>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sp>
        <p:nvSpPr>
          <p:cNvPr name="Freeform 27" id="27"/>
          <p:cNvSpPr/>
          <p:nvPr/>
        </p:nvSpPr>
        <p:spPr>
          <a:xfrm flipH="false" flipV="false" rot="0">
            <a:off x="17149924" y="9122040"/>
            <a:ext cx="1138076" cy="1164960"/>
          </a:xfrm>
          <a:custGeom>
            <a:avLst/>
            <a:gdLst/>
            <a:ahLst/>
            <a:cxnLst/>
            <a:rect r="r" b="b" t="t" l="l"/>
            <a:pathLst>
              <a:path h="1164960" w="1138076">
                <a:moveTo>
                  <a:pt x="0" y="0"/>
                </a:moveTo>
                <a:lnTo>
                  <a:pt x="1138076" y="0"/>
                </a:lnTo>
                <a:lnTo>
                  <a:pt x="1138076" y="1164960"/>
                </a:lnTo>
                <a:lnTo>
                  <a:pt x="0" y="1164960"/>
                </a:lnTo>
                <a:lnTo>
                  <a:pt x="0" y="0"/>
                </a:lnTo>
                <a:close/>
              </a:path>
            </a:pathLst>
          </a:custGeom>
          <a:blipFill>
            <a:blip r:embed="rId2"/>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2B303"/>
        </a:solidFill>
      </p:bgPr>
    </p:bg>
    <p:spTree>
      <p:nvGrpSpPr>
        <p:cNvPr id="1" name=""/>
        <p:cNvGrpSpPr/>
        <p:nvPr/>
      </p:nvGrpSpPr>
      <p:grpSpPr>
        <a:xfrm>
          <a:off x="0" y="0"/>
          <a:ext cx="0" cy="0"/>
          <a:chOff x="0" y="0"/>
          <a:chExt cx="0" cy="0"/>
        </a:xfrm>
      </p:grpSpPr>
      <p:grpSp>
        <p:nvGrpSpPr>
          <p:cNvPr name="Group 2" id="2"/>
          <p:cNvGrpSpPr/>
          <p:nvPr/>
        </p:nvGrpSpPr>
        <p:grpSpPr>
          <a:xfrm rot="0">
            <a:off x="795493" y="795493"/>
            <a:ext cx="16690817" cy="8734903"/>
            <a:chOff x="0" y="0"/>
            <a:chExt cx="4395935" cy="2300551"/>
          </a:xfrm>
        </p:grpSpPr>
        <p:sp>
          <p:nvSpPr>
            <p:cNvPr name="Freeform 3" id="3"/>
            <p:cNvSpPr/>
            <p:nvPr/>
          </p:nvSpPr>
          <p:spPr>
            <a:xfrm flipH="false" flipV="false" rot="0">
              <a:off x="0" y="0"/>
              <a:ext cx="4395935" cy="2300551"/>
            </a:xfrm>
            <a:custGeom>
              <a:avLst/>
              <a:gdLst/>
              <a:ahLst/>
              <a:cxnLst/>
              <a:rect r="r" b="b" t="t" l="l"/>
              <a:pathLst>
                <a:path h="2300551" w="4395935">
                  <a:moveTo>
                    <a:pt x="0" y="0"/>
                  </a:moveTo>
                  <a:lnTo>
                    <a:pt x="4395935" y="0"/>
                  </a:lnTo>
                  <a:lnTo>
                    <a:pt x="4395935" y="2300551"/>
                  </a:lnTo>
                  <a:lnTo>
                    <a:pt x="0" y="2300551"/>
                  </a:lnTo>
                  <a:close/>
                </a:path>
              </a:pathLst>
            </a:custGeom>
            <a:solidFill>
              <a:srgbClr val="FDFEFF"/>
            </a:solidFill>
          </p:spPr>
        </p:sp>
        <p:sp>
          <p:nvSpPr>
            <p:cNvPr name="TextBox 4" id="4"/>
            <p:cNvSpPr txBox="true"/>
            <p:nvPr/>
          </p:nvSpPr>
          <p:spPr>
            <a:xfrm>
              <a:off x="0" y="-47625"/>
              <a:ext cx="4395935" cy="2348176"/>
            </a:xfrm>
            <a:prstGeom prst="rect">
              <a:avLst/>
            </a:prstGeom>
          </p:spPr>
          <p:txBody>
            <a:bodyPr anchor="ctr" rtlCol="false" tIns="50800" lIns="50800" bIns="50800" rIns="50800"/>
            <a:lstStyle/>
            <a:p>
              <a:pPr algn="ctr" marL="0" indent="0" lvl="0">
                <a:lnSpc>
                  <a:spcPts val="3497"/>
                </a:lnSpc>
              </a:pPr>
            </a:p>
          </p:txBody>
        </p:sp>
      </p:grpSp>
      <p:sp>
        <p:nvSpPr>
          <p:cNvPr name="TextBox 5" id="5"/>
          <p:cNvSpPr txBox="true"/>
          <p:nvPr/>
        </p:nvSpPr>
        <p:spPr>
          <a:xfrm rot="0">
            <a:off x="1713323" y="4020448"/>
            <a:ext cx="14861354" cy="4853421"/>
          </a:xfrm>
          <a:prstGeom prst="rect">
            <a:avLst/>
          </a:prstGeom>
        </p:spPr>
        <p:txBody>
          <a:bodyPr anchor="t" rtlCol="false" tIns="0" lIns="0" bIns="0" rIns="0">
            <a:spAutoFit/>
          </a:bodyPr>
          <a:lstStyle/>
          <a:p>
            <a:pPr algn="l" marL="662403" indent="-331201" lvl="1">
              <a:lnSpc>
                <a:spcPts val="3865"/>
              </a:lnSpc>
              <a:buFont typeface="Arial"/>
              <a:buChar char="•"/>
            </a:pPr>
            <a:r>
              <a:rPr lang="en-US" sz="3068">
                <a:solidFill>
                  <a:srgbClr val="10265D"/>
                </a:solidFill>
                <a:latin typeface="Gowun Dodum"/>
                <a:ea typeface="Gowun Dodum"/>
                <a:cs typeface="Gowun Dodum"/>
                <a:sym typeface="Gowun Dodum"/>
              </a:rPr>
              <a:t>Think of a neuron as a leaky bucket: water (electrical charge) flows in through synaptic inputs, but constantly leaks out through a hole at the bottom (leak conductance). When the water level rises high enough to reach the rim, it overflows—this is the spike! </a:t>
            </a:r>
          </a:p>
          <a:p>
            <a:pPr algn="l" marL="662403" indent="-331201" lvl="1">
              <a:lnSpc>
                <a:spcPts val="3865"/>
              </a:lnSpc>
              <a:buFont typeface="Arial"/>
              <a:buChar char="•"/>
            </a:pPr>
            <a:r>
              <a:rPr lang="en-US" sz="3068">
                <a:solidFill>
                  <a:srgbClr val="10265D"/>
                </a:solidFill>
                <a:latin typeface="Gowun Dodum"/>
                <a:ea typeface="Gowun Dodum"/>
                <a:cs typeface="Gowun Dodum"/>
                <a:sym typeface="Gowun Dodum"/>
              </a:rPr>
              <a:t>After overflow, the bucket drains back to its baseline level (reset), and the cycle begins again.</a:t>
            </a:r>
          </a:p>
          <a:p>
            <a:pPr algn="l" marL="662403" indent="-331201" lvl="1">
              <a:lnSpc>
                <a:spcPts val="3865"/>
              </a:lnSpc>
              <a:buFont typeface="Arial"/>
              <a:buChar char="•"/>
            </a:pPr>
            <a:r>
              <a:rPr lang="en-US" sz="3068">
                <a:solidFill>
                  <a:srgbClr val="10265D"/>
                </a:solidFill>
                <a:latin typeface="Gowun Dodum"/>
                <a:ea typeface="Gowun Dodum"/>
                <a:cs typeface="Gowun Dodum"/>
                <a:sym typeface="Gowun Dodum"/>
              </a:rPr>
              <a:t>This maps directly to the capacitor charging and discharging analogy: the membrane capacitance stores charge like the bucket holds water, while the leak resistance allows charge to dissipate over time. </a:t>
            </a:r>
          </a:p>
          <a:p>
            <a:pPr algn="l" marL="662403" indent="-331201" lvl="1">
              <a:lnSpc>
                <a:spcPts val="3865"/>
              </a:lnSpc>
              <a:buFont typeface="Arial"/>
              <a:buChar char="•"/>
            </a:pPr>
            <a:r>
              <a:rPr lang="en-US" sz="3068">
                <a:solidFill>
                  <a:srgbClr val="10265D"/>
                </a:solidFill>
                <a:latin typeface="Gowun Dodum"/>
                <a:ea typeface="Gowun Dodum"/>
                <a:cs typeface="Gowun Dodum"/>
                <a:sym typeface="Gowun Dodum"/>
              </a:rPr>
              <a:t>The membrane time constant τ determines how quickly the "bucket" drains.</a:t>
            </a:r>
          </a:p>
        </p:txBody>
      </p:sp>
      <p:sp>
        <p:nvSpPr>
          <p:cNvPr name="TextBox 6" id="6"/>
          <p:cNvSpPr txBox="true"/>
          <p:nvPr/>
        </p:nvSpPr>
        <p:spPr>
          <a:xfrm rot="0">
            <a:off x="1713323" y="1553073"/>
            <a:ext cx="14344657" cy="2334891"/>
          </a:xfrm>
          <a:prstGeom prst="rect">
            <a:avLst/>
          </a:prstGeom>
        </p:spPr>
        <p:txBody>
          <a:bodyPr anchor="t" rtlCol="false" tIns="0" lIns="0" bIns="0" rIns="0">
            <a:spAutoFit/>
          </a:bodyPr>
          <a:lstStyle/>
          <a:p>
            <a:pPr algn="ctr" marL="0" indent="0" lvl="0">
              <a:lnSpc>
                <a:spcPts val="9380"/>
              </a:lnSpc>
              <a:spcBef>
                <a:spcPct val="0"/>
              </a:spcBef>
            </a:pPr>
            <a:r>
              <a:rPr lang="en-US" b="true" sz="6700">
                <a:solidFill>
                  <a:srgbClr val="183965"/>
                </a:solidFill>
                <a:latin typeface="League Spartan"/>
                <a:ea typeface="League Spartan"/>
                <a:cs typeface="League Spartan"/>
                <a:sym typeface="League Spartan"/>
              </a:rPr>
              <a:t>Analogy or Intuition: The Leaky Bucket</a:t>
            </a:r>
          </a:p>
        </p:txBody>
      </p:sp>
      <p:grpSp>
        <p:nvGrpSpPr>
          <p:cNvPr name="Group 7" id="7"/>
          <p:cNvGrpSpPr/>
          <p:nvPr/>
        </p:nvGrpSpPr>
        <p:grpSpPr>
          <a:xfrm rot="0">
            <a:off x="16725911" y="-298199"/>
            <a:ext cx="1804637" cy="180463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2B5C">
                <a:alpha val="37647"/>
              </a:srgbClr>
            </a:solidFill>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0" id="10"/>
          <p:cNvGrpSpPr/>
          <p:nvPr/>
        </p:nvGrpSpPr>
        <p:grpSpPr>
          <a:xfrm rot="0">
            <a:off x="16442070" y="84547"/>
            <a:ext cx="1804637" cy="180463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2B5C"/>
            </a:soli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3" id="13"/>
          <p:cNvGrpSpPr/>
          <p:nvPr/>
        </p:nvGrpSpPr>
        <p:grpSpPr>
          <a:xfrm rot="0">
            <a:off x="-341897" y="8741996"/>
            <a:ext cx="1804637" cy="180463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2B5C">
                <a:alpha val="37647"/>
              </a:srgbClr>
            </a:solidFill>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6" id="16"/>
          <p:cNvGrpSpPr/>
          <p:nvPr/>
        </p:nvGrpSpPr>
        <p:grpSpPr>
          <a:xfrm rot="0">
            <a:off x="0" y="9021094"/>
            <a:ext cx="1804637" cy="180463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2B5C"/>
            </a:solidFill>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sp>
        <p:nvSpPr>
          <p:cNvPr name="Freeform 19" id="19"/>
          <p:cNvSpPr/>
          <p:nvPr/>
        </p:nvSpPr>
        <p:spPr>
          <a:xfrm flipH="false" flipV="false" rot="0">
            <a:off x="17149924" y="9122040"/>
            <a:ext cx="1138076" cy="1164960"/>
          </a:xfrm>
          <a:custGeom>
            <a:avLst/>
            <a:gdLst/>
            <a:ahLst/>
            <a:cxnLst/>
            <a:rect r="r" b="b" t="t" l="l"/>
            <a:pathLst>
              <a:path h="1164960" w="1138076">
                <a:moveTo>
                  <a:pt x="0" y="0"/>
                </a:moveTo>
                <a:lnTo>
                  <a:pt x="1138076" y="0"/>
                </a:lnTo>
                <a:lnTo>
                  <a:pt x="1138076" y="1164960"/>
                </a:lnTo>
                <a:lnTo>
                  <a:pt x="0" y="1164960"/>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DFEFF"/>
        </a:solidFill>
      </p:bgPr>
    </p:bg>
    <p:spTree>
      <p:nvGrpSpPr>
        <p:cNvPr id="1" name=""/>
        <p:cNvGrpSpPr/>
        <p:nvPr/>
      </p:nvGrpSpPr>
      <p:grpSpPr>
        <a:xfrm>
          <a:off x="0" y="0"/>
          <a:ext cx="0" cy="0"/>
          <a:chOff x="0" y="0"/>
          <a:chExt cx="0" cy="0"/>
        </a:xfrm>
      </p:grpSpPr>
      <p:sp>
        <p:nvSpPr>
          <p:cNvPr name="TextBox 2" id="2"/>
          <p:cNvSpPr txBox="true"/>
          <p:nvPr/>
        </p:nvSpPr>
        <p:spPr>
          <a:xfrm rot="0">
            <a:off x="3432666" y="1399357"/>
            <a:ext cx="12057037" cy="1623957"/>
          </a:xfrm>
          <a:prstGeom prst="rect">
            <a:avLst/>
          </a:prstGeom>
        </p:spPr>
        <p:txBody>
          <a:bodyPr anchor="t" rtlCol="false" tIns="0" lIns="0" bIns="0" rIns="0">
            <a:spAutoFit/>
          </a:bodyPr>
          <a:lstStyle/>
          <a:p>
            <a:pPr algn="ctr" marL="0" indent="0" lvl="0">
              <a:lnSpc>
                <a:spcPts val="13390"/>
              </a:lnSpc>
            </a:pPr>
            <a:r>
              <a:rPr lang="en-US" b="true" sz="9564">
                <a:solidFill>
                  <a:srgbClr val="183965"/>
                </a:solidFill>
                <a:latin typeface="League Spartan"/>
                <a:ea typeface="League Spartan"/>
                <a:cs typeface="League Spartan"/>
                <a:sym typeface="League Spartan"/>
              </a:rPr>
              <a:t>Definition of Terms</a:t>
            </a:r>
          </a:p>
        </p:txBody>
      </p:sp>
      <p:sp>
        <p:nvSpPr>
          <p:cNvPr name="TextBox 3" id="3"/>
          <p:cNvSpPr txBox="true"/>
          <p:nvPr/>
        </p:nvSpPr>
        <p:spPr>
          <a:xfrm rot="0">
            <a:off x="4359194" y="4694496"/>
            <a:ext cx="5578640" cy="967243"/>
          </a:xfrm>
          <a:prstGeom prst="rect">
            <a:avLst/>
          </a:prstGeom>
        </p:spPr>
        <p:txBody>
          <a:bodyPr anchor="t" rtlCol="false" tIns="0" lIns="0" bIns="0" rIns="0">
            <a:spAutoFit/>
          </a:bodyPr>
          <a:lstStyle/>
          <a:p>
            <a:pPr algn="l" marL="603350" indent="-301675" lvl="1">
              <a:lnSpc>
                <a:spcPts val="3912"/>
              </a:lnSpc>
              <a:buFont typeface="Arial"/>
              <a:buChar char="•"/>
            </a:pPr>
            <a:r>
              <a:rPr lang="en-US" sz="2794">
                <a:solidFill>
                  <a:srgbClr val="10265D"/>
                </a:solidFill>
                <a:latin typeface="Gowun Dodum"/>
                <a:ea typeface="Gowun Dodum"/>
                <a:cs typeface="Gowun Dodum"/>
                <a:sym typeface="Gowun Dodum"/>
              </a:rPr>
              <a:t>Membrane potential (V): voltage across neuron membrane</a:t>
            </a:r>
          </a:p>
        </p:txBody>
      </p:sp>
      <p:sp>
        <p:nvSpPr>
          <p:cNvPr name="TextBox 4" id="4"/>
          <p:cNvSpPr txBox="true"/>
          <p:nvPr/>
        </p:nvSpPr>
        <p:spPr>
          <a:xfrm rot="0">
            <a:off x="10525483" y="4694496"/>
            <a:ext cx="5561641" cy="967243"/>
          </a:xfrm>
          <a:prstGeom prst="rect">
            <a:avLst/>
          </a:prstGeom>
        </p:spPr>
        <p:txBody>
          <a:bodyPr anchor="t" rtlCol="false" tIns="0" lIns="0" bIns="0" rIns="0">
            <a:spAutoFit/>
          </a:bodyPr>
          <a:lstStyle/>
          <a:p>
            <a:pPr algn="l" marL="603350" indent="-301675" lvl="1">
              <a:lnSpc>
                <a:spcPts val="3912"/>
              </a:lnSpc>
              <a:buFont typeface="Arial"/>
              <a:buChar char="•"/>
            </a:pPr>
            <a:r>
              <a:rPr lang="en-US" sz="2794">
                <a:solidFill>
                  <a:srgbClr val="10265D"/>
                </a:solidFill>
                <a:latin typeface="Gowun Dodum"/>
                <a:ea typeface="Gowun Dodum"/>
                <a:cs typeface="Gowun Dodum"/>
                <a:sym typeface="Gowun Dodum"/>
              </a:rPr>
              <a:t>Resting potential (V_rest): baseline voltage without input</a:t>
            </a:r>
          </a:p>
        </p:txBody>
      </p:sp>
      <p:sp>
        <p:nvSpPr>
          <p:cNvPr name="TextBox 5" id="5"/>
          <p:cNvSpPr txBox="true"/>
          <p:nvPr/>
        </p:nvSpPr>
        <p:spPr>
          <a:xfrm rot="0">
            <a:off x="10525483" y="5826273"/>
            <a:ext cx="6439601" cy="967243"/>
          </a:xfrm>
          <a:prstGeom prst="rect">
            <a:avLst/>
          </a:prstGeom>
        </p:spPr>
        <p:txBody>
          <a:bodyPr anchor="t" rtlCol="false" tIns="0" lIns="0" bIns="0" rIns="0">
            <a:spAutoFit/>
          </a:bodyPr>
          <a:lstStyle/>
          <a:p>
            <a:pPr algn="l" marL="603350" indent="-301675" lvl="1">
              <a:lnSpc>
                <a:spcPts val="3912"/>
              </a:lnSpc>
              <a:buFont typeface="Arial"/>
              <a:buChar char="•"/>
            </a:pPr>
            <a:r>
              <a:rPr lang="en-US" sz="2794">
                <a:solidFill>
                  <a:srgbClr val="10265D"/>
                </a:solidFill>
                <a:latin typeface="Gowun Dodum"/>
                <a:ea typeface="Gowun Dodum"/>
                <a:cs typeface="Gowun Dodum"/>
                <a:sym typeface="Gowun Dodum"/>
              </a:rPr>
              <a:t>Threshold voltage (V_th): voltage level triggering spike</a:t>
            </a:r>
          </a:p>
        </p:txBody>
      </p:sp>
      <p:sp>
        <p:nvSpPr>
          <p:cNvPr name="TextBox 6" id="6"/>
          <p:cNvSpPr txBox="true"/>
          <p:nvPr/>
        </p:nvSpPr>
        <p:spPr>
          <a:xfrm rot="0">
            <a:off x="4232220" y="5969148"/>
            <a:ext cx="5578640" cy="631471"/>
          </a:xfrm>
          <a:prstGeom prst="rect">
            <a:avLst/>
          </a:prstGeom>
        </p:spPr>
        <p:txBody>
          <a:bodyPr anchor="t" rtlCol="false" tIns="0" lIns="0" bIns="0" rIns="0">
            <a:spAutoFit/>
          </a:bodyPr>
          <a:lstStyle/>
          <a:p>
            <a:pPr algn="l" marL="603350" indent="-301675" lvl="1">
              <a:lnSpc>
                <a:spcPts val="2431"/>
              </a:lnSpc>
              <a:buFont typeface="Arial"/>
              <a:buChar char="•"/>
            </a:pPr>
            <a:r>
              <a:rPr lang="en-US" sz="2794">
                <a:solidFill>
                  <a:srgbClr val="10265D"/>
                </a:solidFill>
                <a:latin typeface="Gowun Dodum"/>
                <a:ea typeface="Gowun Dodum"/>
                <a:cs typeface="Gowun Dodum"/>
                <a:sym typeface="Gowun Dodum"/>
              </a:rPr>
              <a:t>Membrane time constant (τ): rate of voltage decay/leak</a:t>
            </a:r>
          </a:p>
        </p:txBody>
      </p:sp>
      <p:sp>
        <p:nvSpPr>
          <p:cNvPr name="TextBox 7" id="7"/>
          <p:cNvSpPr txBox="true"/>
          <p:nvPr/>
        </p:nvSpPr>
        <p:spPr>
          <a:xfrm rot="0">
            <a:off x="4232220" y="6955440"/>
            <a:ext cx="6028519" cy="967243"/>
          </a:xfrm>
          <a:prstGeom prst="rect">
            <a:avLst/>
          </a:prstGeom>
        </p:spPr>
        <p:txBody>
          <a:bodyPr anchor="t" rtlCol="false" tIns="0" lIns="0" bIns="0" rIns="0">
            <a:spAutoFit/>
          </a:bodyPr>
          <a:lstStyle/>
          <a:p>
            <a:pPr algn="l" marL="603350" indent="-301675" lvl="1">
              <a:lnSpc>
                <a:spcPts val="3912"/>
              </a:lnSpc>
              <a:buFont typeface="Arial"/>
              <a:buChar char="•"/>
            </a:pPr>
            <a:r>
              <a:rPr lang="en-US" sz="2794">
                <a:solidFill>
                  <a:srgbClr val="10265D"/>
                </a:solidFill>
                <a:latin typeface="Gowun Dodum"/>
                <a:ea typeface="Gowun Dodum"/>
                <a:cs typeface="Gowun Dodum"/>
                <a:sym typeface="Gowun Dodum"/>
              </a:rPr>
              <a:t>Leak conductance: ion channel flow causing leak</a:t>
            </a:r>
          </a:p>
        </p:txBody>
      </p:sp>
      <p:sp>
        <p:nvSpPr>
          <p:cNvPr name="TextBox 8" id="8"/>
          <p:cNvSpPr txBox="true"/>
          <p:nvPr/>
        </p:nvSpPr>
        <p:spPr>
          <a:xfrm rot="0">
            <a:off x="10658506" y="6955440"/>
            <a:ext cx="6008382" cy="967243"/>
          </a:xfrm>
          <a:prstGeom prst="rect">
            <a:avLst/>
          </a:prstGeom>
        </p:spPr>
        <p:txBody>
          <a:bodyPr anchor="t" rtlCol="false" tIns="0" lIns="0" bIns="0" rIns="0">
            <a:spAutoFit/>
          </a:bodyPr>
          <a:lstStyle/>
          <a:p>
            <a:pPr algn="l" marL="603350" indent="-301675" lvl="1">
              <a:lnSpc>
                <a:spcPts val="3912"/>
              </a:lnSpc>
              <a:buFont typeface="Arial"/>
              <a:buChar char="•"/>
            </a:pPr>
            <a:r>
              <a:rPr lang="en-US" sz="2794">
                <a:solidFill>
                  <a:srgbClr val="10265D"/>
                </a:solidFill>
                <a:latin typeface="Gowun Dodum"/>
                <a:ea typeface="Gowun Dodum"/>
                <a:cs typeface="Gowun Dodum"/>
                <a:sym typeface="Gowun Dodum"/>
              </a:rPr>
              <a:t>Capacitance (C): membrane's charge storage capacity</a:t>
            </a:r>
          </a:p>
        </p:txBody>
      </p:sp>
      <p:grpSp>
        <p:nvGrpSpPr>
          <p:cNvPr name="Group 9" id="9"/>
          <p:cNvGrpSpPr/>
          <p:nvPr/>
        </p:nvGrpSpPr>
        <p:grpSpPr>
          <a:xfrm rot="0">
            <a:off x="-1785648" y="-879346"/>
            <a:ext cx="3613090" cy="4482765"/>
            <a:chOff x="0" y="0"/>
            <a:chExt cx="951596" cy="1180646"/>
          </a:xfrm>
        </p:grpSpPr>
        <p:sp>
          <p:nvSpPr>
            <p:cNvPr name="Freeform 10" id="10"/>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alpha val="21961"/>
                </a:srgbClr>
              </a:solidFill>
              <a:prstDash val="solid"/>
              <a:miter/>
            </a:ln>
          </p:spPr>
        </p:sp>
        <p:sp>
          <p:nvSpPr>
            <p:cNvPr name="TextBox 11" id="11"/>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grpSp>
        <p:nvGrpSpPr>
          <p:cNvPr name="Group 12" id="12"/>
          <p:cNvGrpSpPr/>
          <p:nvPr/>
        </p:nvGrpSpPr>
        <p:grpSpPr>
          <a:xfrm rot="0">
            <a:off x="-777845" y="-234619"/>
            <a:ext cx="3613090" cy="4482765"/>
            <a:chOff x="0" y="0"/>
            <a:chExt cx="951596" cy="1180646"/>
          </a:xfrm>
        </p:grpSpPr>
        <p:sp>
          <p:nvSpPr>
            <p:cNvPr name="Freeform 13" id="13"/>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solidFill>
              <a:prstDash val="solid"/>
              <a:miter/>
            </a:ln>
          </p:spPr>
        </p:sp>
        <p:sp>
          <p:nvSpPr>
            <p:cNvPr name="TextBox 14" id="14"/>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grpSp>
        <p:nvGrpSpPr>
          <p:cNvPr name="Group 15" id="15"/>
          <p:cNvGrpSpPr/>
          <p:nvPr/>
        </p:nvGrpSpPr>
        <p:grpSpPr>
          <a:xfrm rot="0">
            <a:off x="16087125" y="8249881"/>
            <a:ext cx="2801069" cy="2801069"/>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B303"/>
            </a:solidFill>
          </p:spPr>
        </p:sp>
        <p:sp>
          <p:nvSpPr>
            <p:cNvPr name="TextBox 17" id="17"/>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8" id="18"/>
          <p:cNvGrpSpPr/>
          <p:nvPr/>
        </p:nvGrpSpPr>
        <p:grpSpPr>
          <a:xfrm rot="0">
            <a:off x="14924098" y="8886466"/>
            <a:ext cx="2801069" cy="2801069"/>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2B5C"/>
            </a:solidFill>
          </p:spPr>
        </p:sp>
        <p:sp>
          <p:nvSpPr>
            <p:cNvPr name="TextBox 20" id="20"/>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21" id="21"/>
          <p:cNvGrpSpPr/>
          <p:nvPr/>
        </p:nvGrpSpPr>
        <p:grpSpPr>
          <a:xfrm rot="0">
            <a:off x="16087125" y="-371834"/>
            <a:ext cx="2801069" cy="2801069"/>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2B5C">
                <a:alpha val="37647"/>
              </a:srgbClr>
            </a:solidFill>
          </p:spPr>
        </p:sp>
        <p:sp>
          <p:nvSpPr>
            <p:cNvPr name="TextBox 23" id="23"/>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24" id="24"/>
          <p:cNvGrpSpPr/>
          <p:nvPr/>
        </p:nvGrpSpPr>
        <p:grpSpPr>
          <a:xfrm rot="0">
            <a:off x="15646560" y="222245"/>
            <a:ext cx="2801069" cy="2801069"/>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2B5C"/>
            </a:solidFill>
          </p:spPr>
        </p:sp>
        <p:sp>
          <p:nvSpPr>
            <p:cNvPr name="TextBox 26" id="26"/>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sp>
        <p:nvSpPr>
          <p:cNvPr name="Freeform 27" id="27"/>
          <p:cNvSpPr/>
          <p:nvPr/>
        </p:nvSpPr>
        <p:spPr>
          <a:xfrm flipH="false" flipV="false" rot="0">
            <a:off x="17149924" y="9122040"/>
            <a:ext cx="1138076" cy="1164960"/>
          </a:xfrm>
          <a:custGeom>
            <a:avLst/>
            <a:gdLst/>
            <a:ahLst/>
            <a:cxnLst/>
            <a:rect r="r" b="b" t="t" l="l"/>
            <a:pathLst>
              <a:path h="1164960" w="1138076">
                <a:moveTo>
                  <a:pt x="0" y="0"/>
                </a:moveTo>
                <a:lnTo>
                  <a:pt x="1138076" y="0"/>
                </a:lnTo>
                <a:lnTo>
                  <a:pt x="1138076" y="1164960"/>
                </a:lnTo>
                <a:lnTo>
                  <a:pt x="0" y="1164960"/>
                </a:lnTo>
                <a:lnTo>
                  <a:pt x="0" y="0"/>
                </a:lnTo>
                <a:close/>
              </a:path>
            </a:pathLst>
          </a:custGeom>
          <a:blipFill>
            <a:blip r:embed="rId2"/>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DFEFF"/>
        </a:solidFill>
      </p:bgPr>
    </p:bg>
    <p:spTree>
      <p:nvGrpSpPr>
        <p:cNvPr id="1" name=""/>
        <p:cNvGrpSpPr/>
        <p:nvPr/>
      </p:nvGrpSpPr>
      <p:grpSpPr>
        <a:xfrm>
          <a:off x="0" y="0"/>
          <a:ext cx="0" cy="0"/>
          <a:chOff x="0" y="0"/>
          <a:chExt cx="0" cy="0"/>
        </a:xfrm>
      </p:grpSpPr>
      <p:sp>
        <p:nvSpPr>
          <p:cNvPr name="TextBox 2" id="2"/>
          <p:cNvSpPr txBox="true"/>
          <p:nvPr/>
        </p:nvSpPr>
        <p:spPr>
          <a:xfrm rot="0">
            <a:off x="3778027" y="2286827"/>
            <a:ext cx="11162746" cy="649889"/>
          </a:xfrm>
          <a:prstGeom prst="rect">
            <a:avLst/>
          </a:prstGeom>
        </p:spPr>
        <p:txBody>
          <a:bodyPr anchor="t" rtlCol="false" tIns="0" lIns="0" bIns="0" rIns="0">
            <a:spAutoFit/>
          </a:bodyPr>
          <a:lstStyle/>
          <a:p>
            <a:pPr algn="l" marL="0" indent="0" lvl="0">
              <a:lnSpc>
                <a:spcPts val="5358"/>
              </a:lnSpc>
              <a:spcBef>
                <a:spcPct val="0"/>
              </a:spcBef>
            </a:pPr>
            <a:r>
              <a:rPr lang="en-US" b="true" sz="3827">
                <a:solidFill>
                  <a:srgbClr val="183965"/>
                </a:solidFill>
                <a:latin typeface="League Spartan"/>
                <a:ea typeface="League Spartan"/>
                <a:cs typeface="League Spartan"/>
                <a:sym typeface="League Spartan"/>
              </a:rPr>
              <a:t>Theoretical Concept 1 – RC Circuit Derivation</a:t>
            </a:r>
          </a:p>
        </p:txBody>
      </p:sp>
      <p:sp>
        <p:nvSpPr>
          <p:cNvPr name="TextBox 3" id="3"/>
          <p:cNvSpPr txBox="true"/>
          <p:nvPr/>
        </p:nvSpPr>
        <p:spPr>
          <a:xfrm rot="0">
            <a:off x="1502359" y="4068317"/>
            <a:ext cx="7176607" cy="4088718"/>
          </a:xfrm>
          <a:prstGeom prst="rect">
            <a:avLst/>
          </a:prstGeom>
        </p:spPr>
        <p:txBody>
          <a:bodyPr anchor="t" rtlCol="false" tIns="0" lIns="0" bIns="0" rIns="0">
            <a:spAutoFit/>
          </a:bodyPr>
          <a:lstStyle/>
          <a:p>
            <a:pPr algn="l" marL="562942" indent="-281471" lvl="1">
              <a:lnSpc>
                <a:spcPts val="3259"/>
              </a:lnSpc>
              <a:buFont typeface="Arial"/>
              <a:buChar char="•"/>
            </a:pPr>
            <a:r>
              <a:rPr lang="en-US" sz="2607">
                <a:solidFill>
                  <a:srgbClr val="10265D"/>
                </a:solidFill>
                <a:latin typeface="Gowun Dodum"/>
                <a:ea typeface="Gowun Dodum"/>
                <a:cs typeface="Gowun Dodum"/>
                <a:sym typeface="Gowun Dodum"/>
              </a:rPr>
              <a:t>The neuron membrane can be modeled as a capacitor C in parallel with a resistor R, representing the leak conductance. This electrical analogy forms the foundation of the LIF model.</a:t>
            </a:r>
          </a:p>
          <a:p>
            <a:pPr algn="l" marL="562942" indent="-281471" lvl="1">
              <a:lnSpc>
                <a:spcPts val="3259"/>
              </a:lnSpc>
              <a:buFont typeface="Arial"/>
              <a:buChar char="•"/>
            </a:pPr>
            <a:r>
              <a:rPr lang="en-US" sz="2607">
                <a:solidFill>
                  <a:srgbClr val="10265D"/>
                </a:solidFill>
                <a:latin typeface="Gowun Dodum"/>
                <a:ea typeface="Gowun Dodum"/>
                <a:cs typeface="Gowun Dodum"/>
                <a:sym typeface="Gowun Dodum"/>
              </a:rPr>
              <a:t>Applying Kirchhoff's current law at the membrane node, the total current must sum to zero. The capacitive current (C dV/dt) plus the resistive leak current ((V - V_rest)/R) equals the input current I(t).</a:t>
            </a:r>
          </a:p>
        </p:txBody>
      </p:sp>
      <p:sp>
        <p:nvSpPr>
          <p:cNvPr name="TextBox 4" id="4"/>
          <p:cNvSpPr txBox="true"/>
          <p:nvPr/>
        </p:nvSpPr>
        <p:spPr>
          <a:xfrm rot="0">
            <a:off x="9582508" y="4068317"/>
            <a:ext cx="7176607" cy="3679143"/>
          </a:xfrm>
          <a:prstGeom prst="rect">
            <a:avLst/>
          </a:prstGeom>
        </p:spPr>
        <p:txBody>
          <a:bodyPr anchor="t" rtlCol="false" tIns="0" lIns="0" bIns="0" rIns="0">
            <a:spAutoFit/>
          </a:bodyPr>
          <a:lstStyle/>
          <a:p>
            <a:pPr algn="l" marL="562942" indent="-281471" lvl="1">
              <a:lnSpc>
                <a:spcPts val="3259"/>
              </a:lnSpc>
              <a:buFont typeface="Arial"/>
              <a:buChar char="•"/>
            </a:pPr>
            <a:r>
              <a:rPr lang="en-US" sz="2607">
                <a:solidFill>
                  <a:srgbClr val="10265D"/>
                </a:solidFill>
                <a:latin typeface="Gowun Dodum"/>
                <a:ea typeface="Gowun Dodum"/>
                <a:cs typeface="Gowun Dodum"/>
                <a:sym typeface="Gowun Dodum"/>
              </a:rPr>
              <a:t>Rearranging Kirchhoff's equation yields the fundamental LIF differential equation:</a:t>
            </a:r>
          </a:p>
          <a:p>
            <a:pPr algn="l" marL="562942" indent="-281471" lvl="1">
              <a:lnSpc>
                <a:spcPts val="3259"/>
              </a:lnSpc>
              <a:buFont typeface="Arial"/>
              <a:buChar char="•"/>
            </a:pPr>
            <a:r>
              <a:rPr lang="en-US" sz="2607">
                <a:solidFill>
                  <a:srgbClr val="10265D"/>
                </a:solidFill>
                <a:latin typeface="Gowun Dodum"/>
                <a:ea typeface="Gowun Dodum"/>
                <a:cs typeface="Gowun Dodum"/>
                <a:sym typeface="Gowun Dodum"/>
              </a:rPr>
              <a:t>C dV/dt = -(V - V_rest)/R + I(t)</a:t>
            </a:r>
          </a:p>
          <a:p>
            <a:pPr algn="l" marL="562942" indent="-281471" lvl="1">
              <a:lnSpc>
                <a:spcPts val="3259"/>
              </a:lnSpc>
              <a:buFont typeface="Arial"/>
              <a:buChar char="•"/>
            </a:pPr>
            <a:r>
              <a:rPr lang="en-US" sz="2607">
                <a:solidFill>
                  <a:srgbClr val="10265D"/>
                </a:solidFill>
                <a:latin typeface="Gowun Dodum"/>
                <a:ea typeface="Gowun Dodum"/>
                <a:cs typeface="Gowun Dodum"/>
                <a:sym typeface="Gowun Dodum"/>
              </a:rPr>
              <a:t>The membrane time constant τ = RC determines how quickly voltage decays toward rest. A larger τ means slower leak and longer integration of inputs, while smaller τ produces faster responses but shorter memory of past inputs.</a:t>
            </a:r>
          </a:p>
        </p:txBody>
      </p:sp>
      <p:grpSp>
        <p:nvGrpSpPr>
          <p:cNvPr name="Group 5" id="5"/>
          <p:cNvGrpSpPr/>
          <p:nvPr/>
        </p:nvGrpSpPr>
        <p:grpSpPr>
          <a:xfrm rot="0">
            <a:off x="-1814631" y="-2773990"/>
            <a:ext cx="3613090" cy="4482765"/>
            <a:chOff x="0" y="0"/>
            <a:chExt cx="951596" cy="1180646"/>
          </a:xfrm>
        </p:grpSpPr>
        <p:sp>
          <p:nvSpPr>
            <p:cNvPr name="Freeform 6" id="6"/>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alpha val="21961"/>
                </a:srgbClr>
              </a:solidFill>
              <a:prstDash val="solid"/>
              <a:miter/>
            </a:ln>
          </p:spPr>
        </p:sp>
        <p:sp>
          <p:nvSpPr>
            <p:cNvPr name="TextBox 7" id="7"/>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grpSp>
        <p:nvGrpSpPr>
          <p:cNvPr name="Group 8" id="8"/>
          <p:cNvGrpSpPr/>
          <p:nvPr/>
        </p:nvGrpSpPr>
        <p:grpSpPr>
          <a:xfrm rot="0">
            <a:off x="-806829" y="-2129263"/>
            <a:ext cx="3613090" cy="4482765"/>
            <a:chOff x="0" y="0"/>
            <a:chExt cx="951596" cy="1180646"/>
          </a:xfrm>
        </p:grpSpPr>
        <p:sp>
          <p:nvSpPr>
            <p:cNvPr name="Freeform 9" id="9"/>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solidFill>
              <a:prstDash val="solid"/>
              <a:miter/>
            </a:ln>
          </p:spPr>
        </p:sp>
        <p:sp>
          <p:nvSpPr>
            <p:cNvPr name="TextBox 10" id="10"/>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grpSp>
        <p:nvGrpSpPr>
          <p:cNvPr name="Group 11" id="11"/>
          <p:cNvGrpSpPr/>
          <p:nvPr/>
        </p:nvGrpSpPr>
        <p:grpSpPr>
          <a:xfrm rot="0">
            <a:off x="16252466" y="-514350"/>
            <a:ext cx="3086100" cy="30861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65">
                <a:alpha val="45882"/>
              </a:srgbClr>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4" id="14"/>
          <p:cNvGrpSpPr/>
          <p:nvPr/>
        </p:nvGrpSpPr>
        <p:grpSpPr>
          <a:xfrm rot="0">
            <a:off x="15912539" y="565163"/>
            <a:ext cx="3086100" cy="3086100"/>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65"/>
            </a:solidFill>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7" id="17"/>
          <p:cNvGrpSpPr/>
          <p:nvPr/>
        </p:nvGrpSpPr>
        <p:grpSpPr>
          <a:xfrm rot="0">
            <a:off x="16759115" y="8157035"/>
            <a:ext cx="3613090" cy="4482765"/>
            <a:chOff x="0" y="0"/>
            <a:chExt cx="951596" cy="1180646"/>
          </a:xfrm>
        </p:grpSpPr>
        <p:sp>
          <p:nvSpPr>
            <p:cNvPr name="Freeform 18" id="18"/>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alpha val="21961"/>
                </a:srgbClr>
              </a:solidFill>
              <a:prstDash val="solid"/>
              <a:miter/>
            </a:ln>
          </p:spPr>
        </p:sp>
        <p:sp>
          <p:nvSpPr>
            <p:cNvPr name="TextBox 19" id="19"/>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grpSp>
        <p:nvGrpSpPr>
          <p:cNvPr name="Group 20" id="20"/>
          <p:cNvGrpSpPr/>
          <p:nvPr/>
        </p:nvGrpSpPr>
        <p:grpSpPr>
          <a:xfrm rot="0">
            <a:off x="-777845" y="9476215"/>
            <a:ext cx="3613090" cy="4482765"/>
            <a:chOff x="0" y="0"/>
            <a:chExt cx="951596" cy="1180646"/>
          </a:xfrm>
        </p:grpSpPr>
        <p:sp>
          <p:nvSpPr>
            <p:cNvPr name="Freeform 21" id="21"/>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solidFill>
              <a:prstDash val="solid"/>
              <a:miter/>
            </a:ln>
          </p:spPr>
        </p:sp>
        <p:sp>
          <p:nvSpPr>
            <p:cNvPr name="TextBox 22" id="22"/>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sp>
        <p:nvSpPr>
          <p:cNvPr name="Freeform 23" id="23"/>
          <p:cNvSpPr/>
          <p:nvPr/>
        </p:nvSpPr>
        <p:spPr>
          <a:xfrm flipH="false" flipV="false" rot="0">
            <a:off x="17149924" y="9122040"/>
            <a:ext cx="1138076" cy="1164960"/>
          </a:xfrm>
          <a:custGeom>
            <a:avLst/>
            <a:gdLst/>
            <a:ahLst/>
            <a:cxnLst/>
            <a:rect r="r" b="b" t="t" l="l"/>
            <a:pathLst>
              <a:path h="1164960" w="1138076">
                <a:moveTo>
                  <a:pt x="0" y="0"/>
                </a:moveTo>
                <a:lnTo>
                  <a:pt x="1138076" y="0"/>
                </a:lnTo>
                <a:lnTo>
                  <a:pt x="1138076" y="1164960"/>
                </a:lnTo>
                <a:lnTo>
                  <a:pt x="0" y="1164960"/>
                </a:lnTo>
                <a:lnTo>
                  <a:pt x="0" y="0"/>
                </a:lnTo>
                <a:close/>
              </a:path>
            </a:pathLst>
          </a:custGeom>
          <a:blipFill>
            <a:blip r:embed="rId2"/>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DFEFF"/>
        </a:solidFill>
      </p:bgPr>
    </p:bg>
    <p:spTree>
      <p:nvGrpSpPr>
        <p:cNvPr id="1" name=""/>
        <p:cNvGrpSpPr/>
        <p:nvPr/>
      </p:nvGrpSpPr>
      <p:grpSpPr>
        <a:xfrm>
          <a:off x="0" y="0"/>
          <a:ext cx="0" cy="0"/>
          <a:chOff x="0" y="0"/>
          <a:chExt cx="0" cy="0"/>
        </a:xfrm>
      </p:grpSpPr>
      <p:sp>
        <p:nvSpPr>
          <p:cNvPr name="TextBox 2" id="2"/>
          <p:cNvSpPr txBox="true"/>
          <p:nvPr/>
        </p:nvSpPr>
        <p:spPr>
          <a:xfrm rot="0">
            <a:off x="1850348" y="2433535"/>
            <a:ext cx="11406009" cy="1230669"/>
          </a:xfrm>
          <a:prstGeom prst="rect">
            <a:avLst/>
          </a:prstGeom>
        </p:spPr>
        <p:txBody>
          <a:bodyPr anchor="t" rtlCol="false" tIns="0" lIns="0" bIns="0" rIns="0">
            <a:spAutoFit/>
          </a:bodyPr>
          <a:lstStyle/>
          <a:p>
            <a:pPr algn="l" marL="1559726" indent="-779863" lvl="1">
              <a:lnSpc>
                <a:spcPts val="10114"/>
              </a:lnSpc>
              <a:spcBef>
                <a:spcPct val="0"/>
              </a:spcBef>
              <a:buAutoNum type="arabicPeriod" startAt="1"/>
            </a:pPr>
            <a:r>
              <a:rPr lang="en-US" b="true" sz="7224">
                <a:solidFill>
                  <a:srgbClr val="183965"/>
                </a:solidFill>
                <a:latin typeface="League Spartan"/>
                <a:ea typeface="League Spartan"/>
                <a:cs typeface="League Spartan"/>
                <a:sym typeface="League Spartan"/>
              </a:rPr>
              <a:t>Analytical Solutions</a:t>
            </a:r>
          </a:p>
        </p:txBody>
      </p:sp>
      <p:sp>
        <p:nvSpPr>
          <p:cNvPr name="TextBox 3" id="3"/>
          <p:cNvSpPr txBox="true"/>
          <p:nvPr/>
        </p:nvSpPr>
        <p:spPr>
          <a:xfrm rot="0">
            <a:off x="1850348" y="4013702"/>
            <a:ext cx="14252779" cy="4003192"/>
          </a:xfrm>
          <a:prstGeom prst="rect">
            <a:avLst/>
          </a:prstGeom>
        </p:spPr>
        <p:txBody>
          <a:bodyPr anchor="t" rtlCol="false" tIns="0" lIns="0" bIns="0" rIns="0">
            <a:spAutoFit/>
          </a:bodyPr>
          <a:lstStyle/>
          <a:p>
            <a:pPr algn="l" marL="556182" indent="-278091" lvl="1">
              <a:lnSpc>
                <a:spcPts val="3220"/>
              </a:lnSpc>
              <a:buFont typeface="Arial"/>
              <a:buChar char="•"/>
            </a:pPr>
            <a:r>
              <a:rPr lang="en-US" sz="2576">
                <a:solidFill>
                  <a:srgbClr val="10265D"/>
                </a:solidFill>
                <a:latin typeface="Gowun Dodum"/>
                <a:ea typeface="Gowun Dodum"/>
                <a:cs typeface="Gowun Dodum"/>
                <a:sym typeface="Gowun Dodum"/>
              </a:rPr>
              <a:t>Understanding how membrane voltage evolves under different input conditions is essential for predicting neural behavior.</a:t>
            </a:r>
          </a:p>
          <a:p>
            <a:pPr algn="l" marL="556182" indent="-278091" lvl="1">
              <a:lnSpc>
                <a:spcPts val="3220"/>
              </a:lnSpc>
              <a:buFont typeface="Arial"/>
              <a:buChar char="•"/>
            </a:pPr>
            <a:r>
              <a:rPr lang="en-US" sz="2576">
                <a:solidFill>
                  <a:srgbClr val="10265D"/>
                </a:solidFill>
                <a:latin typeface="Gowun Dodum"/>
                <a:ea typeface="Gowun Dodum"/>
                <a:cs typeface="Gowun Dodum"/>
                <a:sym typeface="Gowun Dodum"/>
              </a:rPr>
              <a:t>Constant Input Current: When a steady current is applied, the membrane potential exponentially approaches a steady-state value. The solution V(t) = V_rest + IR(1 - e^(-t/τ)) shows how voltage rises toward equilibrium, with the time constant τ determining the rate of approach.</a:t>
            </a:r>
          </a:p>
          <a:p>
            <a:pPr algn="l" marL="556182" indent="-278091" lvl="1">
              <a:lnSpc>
                <a:spcPts val="3220"/>
              </a:lnSpc>
              <a:buFont typeface="Arial"/>
              <a:buChar char="•"/>
            </a:pPr>
            <a:r>
              <a:rPr lang="en-US" sz="2576">
                <a:solidFill>
                  <a:srgbClr val="10265D"/>
                </a:solidFill>
                <a:latin typeface="Gowun Dodum"/>
                <a:ea typeface="Gowun Dodum"/>
                <a:cs typeface="Gowun Dodum"/>
                <a:sym typeface="Gowun Dodum"/>
              </a:rPr>
              <a:t>Time-Varying Inputs: For dynamic inputs, solutions require numerical integration or convolution with the membrane's impulse response. This captures how neurons respond to realistic, fluctuating synaptic inputs.</a:t>
            </a:r>
          </a:p>
          <a:p>
            <a:pPr algn="l" marL="556182" indent="-278091" lvl="1">
              <a:lnSpc>
                <a:spcPts val="3220"/>
              </a:lnSpc>
              <a:buFont typeface="Arial"/>
              <a:buChar char="•"/>
            </a:pPr>
            <a:r>
              <a:rPr lang="en-US" sz="2576">
                <a:solidFill>
                  <a:srgbClr val="10265D"/>
                </a:solidFill>
                <a:latin typeface="Gowun Dodum"/>
                <a:ea typeface="Gowun Dodum"/>
                <a:cs typeface="Gowun Dodum"/>
                <a:sym typeface="Gowun Dodum"/>
              </a:rPr>
              <a:t>Implications for Spike Timing: These solutions reveal how input strength and timing determine when threshold is reached, directly influencing spike timing precision and neural coding strategies.</a:t>
            </a:r>
          </a:p>
        </p:txBody>
      </p:sp>
      <p:grpSp>
        <p:nvGrpSpPr>
          <p:cNvPr name="Group 4" id="4"/>
          <p:cNvGrpSpPr/>
          <p:nvPr/>
        </p:nvGrpSpPr>
        <p:grpSpPr>
          <a:xfrm rot="0">
            <a:off x="16103127" y="-1206598"/>
            <a:ext cx="5317974" cy="6598016"/>
            <a:chOff x="0" y="0"/>
            <a:chExt cx="951596" cy="1180646"/>
          </a:xfrm>
        </p:grpSpPr>
        <p:sp>
          <p:nvSpPr>
            <p:cNvPr name="Freeform 5" id="5"/>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alpha val="21961"/>
                </a:srgbClr>
              </a:solidFill>
              <a:prstDash val="solid"/>
              <a:miter/>
            </a:ln>
          </p:spPr>
        </p:sp>
        <p:sp>
          <p:nvSpPr>
            <p:cNvPr name="TextBox 6" id="6"/>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grpSp>
        <p:nvGrpSpPr>
          <p:cNvPr name="Group 7" id="7"/>
          <p:cNvGrpSpPr/>
          <p:nvPr/>
        </p:nvGrpSpPr>
        <p:grpSpPr>
          <a:xfrm rot="0">
            <a:off x="17586475" y="-257648"/>
            <a:ext cx="5317974" cy="6598016"/>
            <a:chOff x="0" y="0"/>
            <a:chExt cx="951596" cy="1180646"/>
          </a:xfrm>
        </p:grpSpPr>
        <p:sp>
          <p:nvSpPr>
            <p:cNvPr name="Freeform 8" id="8"/>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solidFill>
              <a:prstDash val="solid"/>
              <a:miter/>
            </a:ln>
          </p:spPr>
        </p:sp>
        <p:sp>
          <p:nvSpPr>
            <p:cNvPr name="TextBox 9" id="9"/>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grpSp>
        <p:nvGrpSpPr>
          <p:cNvPr name="Group 10" id="10"/>
          <p:cNvGrpSpPr/>
          <p:nvPr/>
        </p:nvGrpSpPr>
        <p:grpSpPr>
          <a:xfrm rot="0">
            <a:off x="15779369" y="-1062536"/>
            <a:ext cx="3155411" cy="315541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65"/>
            </a:soli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3" id="13"/>
          <p:cNvGrpSpPr/>
          <p:nvPr/>
        </p:nvGrpSpPr>
        <p:grpSpPr>
          <a:xfrm rot="0">
            <a:off x="16244575" y="177382"/>
            <a:ext cx="2203224" cy="2203224"/>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B303"/>
            </a:solidFill>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6" id="16"/>
          <p:cNvGrpSpPr/>
          <p:nvPr/>
        </p:nvGrpSpPr>
        <p:grpSpPr>
          <a:xfrm rot="0">
            <a:off x="-1305063" y="-442577"/>
            <a:ext cx="3155411" cy="315541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65"/>
            </a:solidFill>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9" id="19"/>
          <p:cNvGrpSpPr/>
          <p:nvPr/>
        </p:nvGrpSpPr>
        <p:grpSpPr>
          <a:xfrm rot="0">
            <a:off x="-1500611" y="797341"/>
            <a:ext cx="2863978" cy="2863978"/>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B303"/>
            </a:solidFill>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22" id="22"/>
          <p:cNvGrpSpPr/>
          <p:nvPr/>
        </p:nvGrpSpPr>
        <p:grpSpPr>
          <a:xfrm rot="0">
            <a:off x="6455036" y="8620162"/>
            <a:ext cx="5317974" cy="6598016"/>
            <a:chOff x="0" y="0"/>
            <a:chExt cx="951596" cy="1180646"/>
          </a:xfrm>
        </p:grpSpPr>
        <p:sp>
          <p:nvSpPr>
            <p:cNvPr name="Freeform 23" id="23"/>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alpha val="21961"/>
                </a:srgbClr>
              </a:solidFill>
              <a:prstDash val="solid"/>
              <a:miter/>
            </a:ln>
          </p:spPr>
        </p:sp>
        <p:sp>
          <p:nvSpPr>
            <p:cNvPr name="TextBox 24" id="24"/>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grpSp>
        <p:nvGrpSpPr>
          <p:cNvPr name="Group 25" id="25"/>
          <p:cNvGrpSpPr/>
          <p:nvPr/>
        </p:nvGrpSpPr>
        <p:grpSpPr>
          <a:xfrm rot="0">
            <a:off x="7938383" y="9569111"/>
            <a:ext cx="5317974" cy="6598016"/>
            <a:chOff x="0" y="0"/>
            <a:chExt cx="951596" cy="1180646"/>
          </a:xfrm>
        </p:grpSpPr>
        <p:sp>
          <p:nvSpPr>
            <p:cNvPr name="Freeform 26" id="26"/>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solidFill>
              <a:prstDash val="solid"/>
              <a:miter/>
            </a:ln>
          </p:spPr>
        </p:sp>
        <p:sp>
          <p:nvSpPr>
            <p:cNvPr name="TextBox 27" id="27"/>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sp>
        <p:nvSpPr>
          <p:cNvPr name="Freeform 28" id="28"/>
          <p:cNvSpPr/>
          <p:nvPr/>
        </p:nvSpPr>
        <p:spPr>
          <a:xfrm flipH="false" flipV="false" rot="0">
            <a:off x="17149924" y="9122040"/>
            <a:ext cx="1138076" cy="1164960"/>
          </a:xfrm>
          <a:custGeom>
            <a:avLst/>
            <a:gdLst/>
            <a:ahLst/>
            <a:cxnLst/>
            <a:rect r="r" b="b" t="t" l="l"/>
            <a:pathLst>
              <a:path h="1164960" w="1138076">
                <a:moveTo>
                  <a:pt x="0" y="0"/>
                </a:moveTo>
                <a:lnTo>
                  <a:pt x="1138076" y="0"/>
                </a:lnTo>
                <a:lnTo>
                  <a:pt x="1138076" y="1164960"/>
                </a:lnTo>
                <a:lnTo>
                  <a:pt x="0" y="1164960"/>
                </a:lnTo>
                <a:lnTo>
                  <a:pt x="0" y="0"/>
                </a:lnTo>
                <a:close/>
              </a:path>
            </a:pathLst>
          </a:custGeom>
          <a:blipFill>
            <a:blip r:embed="rId2"/>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DFEFF"/>
        </a:solidFill>
      </p:bgPr>
    </p:bg>
    <p:spTree>
      <p:nvGrpSpPr>
        <p:cNvPr id="1" name=""/>
        <p:cNvGrpSpPr/>
        <p:nvPr/>
      </p:nvGrpSpPr>
      <p:grpSpPr>
        <a:xfrm>
          <a:off x="0" y="0"/>
          <a:ext cx="0" cy="0"/>
          <a:chOff x="0" y="0"/>
          <a:chExt cx="0" cy="0"/>
        </a:xfrm>
      </p:grpSpPr>
      <p:sp>
        <p:nvSpPr>
          <p:cNvPr name="TextBox 2" id="2"/>
          <p:cNvSpPr txBox="true"/>
          <p:nvPr/>
        </p:nvSpPr>
        <p:spPr>
          <a:xfrm rot="0">
            <a:off x="1690009" y="647662"/>
            <a:ext cx="14907981" cy="2024381"/>
          </a:xfrm>
          <a:prstGeom prst="rect">
            <a:avLst/>
          </a:prstGeom>
        </p:spPr>
        <p:txBody>
          <a:bodyPr anchor="t" rtlCol="false" tIns="0" lIns="0" bIns="0" rIns="0">
            <a:spAutoFit/>
          </a:bodyPr>
          <a:lstStyle/>
          <a:p>
            <a:pPr algn="ctr" marL="0" indent="0" lvl="0">
              <a:lnSpc>
                <a:spcPts val="7760"/>
              </a:lnSpc>
            </a:pPr>
            <a:r>
              <a:rPr lang="en-US" b="true" sz="8000">
                <a:solidFill>
                  <a:srgbClr val="183965"/>
                </a:solidFill>
                <a:latin typeface="League Spartan"/>
                <a:ea typeface="League Spartan"/>
                <a:cs typeface="League Spartan"/>
                <a:sym typeface="League Spartan"/>
              </a:rPr>
              <a:t>Firing Rate and Input-Output Relationship</a:t>
            </a:r>
          </a:p>
        </p:txBody>
      </p:sp>
      <p:sp>
        <p:nvSpPr>
          <p:cNvPr name="TextBox 3" id="3"/>
          <p:cNvSpPr txBox="true"/>
          <p:nvPr/>
        </p:nvSpPr>
        <p:spPr>
          <a:xfrm rot="0">
            <a:off x="1690009" y="3199056"/>
            <a:ext cx="9405129" cy="5037455"/>
          </a:xfrm>
          <a:prstGeom prst="rect">
            <a:avLst/>
          </a:prstGeom>
        </p:spPr>
        <p:txBody>
          <a:bodyPr anchor="t" rtlCol="false" tIns="0" lIns="0" bIns="0" rIns="0">
            <a:spAutoFit/>
          </a:bodyPr>
          <a:lstStyle/>
          <a:p>
            <a:pPr algn="l" marL="690881" indent="-345440" lvl="1">
              <a:lnSpc>
                <a:spcPts val="4000"/>
              </a:lnSpc>
              <a:buFont typeface="Arial"/>
              <a:buChar char="•"/>
            </a:pPr>
            <a:r>
              <a:rPr lang="en-US" sz="3200">
                <a:solidFill>
                  <a:srgbClr val="10265D"/>
                </a:solidFill>
                <a:latin typeface="Gowun Dodum"/>
                <a:ea typeface="Gowun Dodum"/>
                <a:cs typeface="Gowun Dodum"/>
                <a:sym typeface="Gowun Dodum"/>
              </a:rPr>
              <a:t>The f-I curve describes how input current amplitude relates to output spike rate. </a:t>
            </a:r>
          </a:p>
          <a:p>
            <a:pPr algn="l" marL="690881" indent="-345440" lvl="1">
              <a:lnSpc>
                <a:spcPts val="4000"/>
              </a:lnSpc>
              <a:buFont typeface="Arial"/>
              <a:buChar char="•"/>
            </a:pPr>
            <a:r>
              <a:rPr lang="en-US" sz="3200">
                <a:solidFill>
                  <a:srgbClr val="10265D"/>
                </a:solidFill>
                <a:latin typeface="Gowun Dodum"/>
                <a:ea typeface="Gowun Dodum"/>
                <a:cs typeface="Gowun Dodum"/>
                <a:sym typeface="Gowun Dodum"/>
              </a:rPr>
              <a:t>At low currents below threshold, no spikes occur. Above threshold, firing rate increases approximately linearly with input current. </a:t>
            </a:r>
          </a:p>
          <a:p>
            <a:pPr algn="l" marL="690881" indent="-345440" lvl="1">
              <a:lnSpc>
                <a:spcPts val="4000"/>
              </a:lnSpc>
              <a:buFont typeface="Arial"/>
              <a:buChar char="•"/>
            </a:pPr>
            <a:r>
              <a:rPr lang="en-US" sz="3200">
                <a:solidFill>
                  <a:srgbClr val="10265D"/>
                </a:solidFill>
                <a:latin typeface="Gowun Dodum"/>
                <a:ea typeface="Gowun Dodum"/>
                <a:cs typeface="Gowun Dodum"/>
                <a:sym typeface="Gowun Dodum"/>
              </a:rPr>
              <a:t>At high currents, the rate saturates due to refractory period constraints. </a:t>
            </a:r>
          </a:p>
          <a:p>
            <a:pPr algn="l" marL="690881" indent="-345440" lvl="1">
              <a:lnSpc>
                <a:spcPts val="4000"/>
              </a:lnSpc>
              <a:buFont typeface="Arial"/>
              <a:buChar char="•"/>
            </a:pPr>
            <a:r>
              <a:rPr lang="en-US" sz="3200">
                <a:solidFill>
                  <a:srgbClr val="10265D"/>
                </a:solidFill>
                <a:latin typeface="Gowun Dodum"/>
                <a:ea typeface="Gowun Dodum"/>
                <a:cs typeface="Gowun Dodum"/>
                <a:sym typeface="Gowun Dodum"/>
              </a:rPr>
              <a:t>This relationship is fundamental for understanding neural coding and how neurons encode stimulus intensity into spike frequency.</a:t>
            </a:r>
          </a:p>
        </p:txBody>
      </p:sp>
      <p:grpSp>
        <p:nvGrpSpPr>
          <p:cNvPr name="Group 4" id="4"/>
          <p:cNvGrpSpPr/>
          <p:nvPr/>
        </p:nvGrpSpPr>
        <p:grpSpPr>
          <a:xfrm rot="0">
            <a:off x="-537417" y="-337555"/>
            <a:ext cx="2070919" cy="20709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65"/>
            </a:solidFill>
          </p:spPr>
        </p:sp>
        <p:sp>
          <p:nvSpPr>
            <p:cNvPr name="TextBox 6" id="6"/>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7" id="7"/>
          <p:cNvGrpSpPr/>
          <p:nvPr/>
        </p:nvGrpSpPr>
        <p:grpSpPr>
          <a:xfrm rot="0">
            <a:off x="-665757" y="476212"/>
            <a:ext cx="1879649" cy="187964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B303"/>
            </a:solidFill>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sp>
        <p:nvSpPr>
          <p:cNvPr name="Freeform 10" id="10"/>
          <p:cNvSpPr/>
          <p:nvPr/>
        </p:nvSpPr>
        <p:spPr>
          <a:xfrm flipH="false" flipV="false" rot="0">
            <a:off x="17149924" y="9122040"/>
            <a:ext cx="1138076" cy="1164960"/>
          </a:xfrm>
          <a:custGeom>
            <a:avLst/>
            <a:gdLst/>
            <a:ahLst/>
            <a:cxnLst/>
            <a:rect r="r" b="b" t="t" l="l"/>
            <a:pathLst>
              <a:path h="1164960" w="1138076">
                <a:moveTo>
                  <a:pt x="0" y="0"/>
                </a:moveTo>
                <a:lnTo>
                  <a:pt x="1138076" y="0"/>
                </a:lnTo>
                <a:lnTo>
                  <a:pt x="1138076" y="1164960"/>
                </a:lnTo>
                <a:lnTo>
                  <a:pt x="0" y="1164960"/>
                </a:lnTo>
                <a:lnTo>
                  <a:pt x="0" y="0"/>
                </a:lnTo>
                <a:close/>
              </a:path>
            </a:pathLst>
          </a:custGeom>
          <a:blipFill>
            <a:blip r:embed="rId2"/>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DFEFF"/>
        </a:solidFill>
      </p:bgPr>
    </p:bg>
    <p:spTree>
      <p:nvGrpSpPr>
        <p:cNvPr id="1" name=""/>
        <p:cNvGrpSpPr/>
        <p:nvPr/>
      </p:nvGrpSpPr>
      <p:grpSpPr>
        <a:xfrm>
          <a:off x="0" y="0"/>
          <a:ext cx="0" cy="0"/>
          <a:chOff x="0" y="0"/>
          <a:chExt cx="0" cy="0"/>
        </a:xfrm>
      </p:grpSpPr>
      <p:sp>
        <p:nvSpPr>
          <p:cNvPr name="TextBox 2" id="2"/>
          <p:cNvSpPr txBox="true"/>
          <p:nvPr/>
        </p:nvSpPr>
        <p:spPr>
          <a:xfrm rot="0">
            <a:off x="1305998" y="959734"/>
            <a:ext cx="14281376" cy="1377949"/>
          </a:xfrm>
          <a:prstGeom prst="rect">
            <a:avLst/>
          </a:prstGeom>
        </p:spPr>
        <p:txBody>
          <a:bodyPr anchor="t" rtlCol="false" tIns="0" lIns="0" bIns="0" rIns="0">
            <a:spAutoFit/>
          </a:bodyPr>
          <a:lstStyle/>
          <a:p>
            <a:pPr algn="l" marL="0" indent="0" lvl="0">
              <a:lnSpc>
                <a:spcPts val="11200"/>
              </a:lnSpc>
              <a:spcBef>
                <a:spcPct val="0"/>
              </a:spcBef>
            </a:pPr>
            <a:r>
              <a:rPr lang="en-US" b="true" sz="8000">
                <a:solidFill>
                  <a:srgbClr val="183965"/>
                </a:solidFill>
                <a:latin typeface="League Spartan"/>
                <a:ea typeface="League Spartan"/>
                <a:cs typeface="League Spartan"/>
                <a:sym typeface="League Spartan"/>
              </a:rPr>
              <a:t>Limitations and Extensions</a:t>
            </a:r>
          </a:p>
        </p:txBody>
      </p:sp>
      <p:sp>
        <p:nvSpPr>
          <p:cNvPr name="TextBox 3" id="3"/>
          <p:cNvSpPr txBox="true"/>
          <p:nvPr/>
        </p:nvSpPr>
        <p:spPr>
          <a:xfrm rot="0">
            <a:off x="1305998" y="3005669"/>
            <a:ext cx="7176607" cy="6116371"/>
          </a:xfrm>
          <a:prstGeom prst="rect">
            <a:avLst/>
          </a:prstGeom>
        </p:spPr>
        <p:txBody>
          <a:bodyPr anchor="t" rtlCol="false" tIns="0" lIns="0" bIns="0" rIns="0">
            <a:spAutoFit/>
          </a:bodyPr>
          <a:lstStyle/>
          <a:p>
            <a:pPr algn="l" marL="0" indent="0" lvl="0">
              <a:lnSpc>
                <a:spcPts val="3489"/>
              </a:lnSpc>
            </a:pPr>
            <a:r>
              <a:rPr lang="en-US" sz="2791">
                <a:solidFill>
                  <a:srgbClr val="10265D"/>
                </a:solidFill>
                <a:latin typeface="Gowun Dodum"/>
                <a:ea typeface="Gowun Dodum"/>
                <a:cs typeface="Gowun Dodum"/>
                <a:sym typeface="Gowun Dodum"/>
              </a:rPr>
              <a:t>Model Limitations</a:t>
            </a:r>
          </a:p>
          <a:p>
            <a:pPr algn="l" marL="0" indent="0" lvl="0">
              <a:lnSpc>
                <a:spcPts val="3489"/>
              </a:lnSpc>
            </a:pPr>
          </a:p>
          <a:p>
            <a:pPr algn="l" marL="0" indent="0" lvl="0">
              <a:lnSpc>
                <a:spcPts val="3489"/>
              </a:lnSpc>
            </a:pPr>
            <a:r>
              <a:rPr lang="en-US" sz="2791">
                <a:solidFill>
                  <a:srgbClr val="10265D"/>
                </a:solidFill>
                <a:latin typeface="Gowun Dodum"/>
                <a:ea typeface="Gowun Dodum"/>
                <a:cs typeface="Gowun Dodum"/>
                <a:sym typeface="Gowun Dodum"/>
              </a:rPr>
              <a:t>The LIF model makes several simplifying assumptions that limit its biological realism:</a:t>
            </a:r>
          </a:p>
          <a:p>
            <a:pPr algn="l" marL="602779" indent="-301389" lvl="1">
              <a:lnSpc>
                <a:spcPts val="3489"/>
              </a:lnSpc>
              <a:buFont typeface="Arial"/>
              <a:buChar char="•"/>
            </a:pPr>
            <a:r>
              <a:rPr lang="en-US" sz="2791">
                <a:solidFill>
                  <a:srgbClr val="10265D"/>
                </a:solidFill>
                <a:latin typeface="Gowun Dodum"/>
                <a:ea typeface="Gowun Dodum"/>
                <a:cs typeface="Gowun Dodum"/>
                <a:sym typeface="Gowun Dodum"/>
              </a:rPr>
              <a:t>No spike shape: Spikes are treated as instantaneous events without the characteristic action potential waveform</a:t>
            </a:r>
          </a:p>
          <a:p>
            <a:pPr algn="l" marL="602779" indent="-301389" lvl="1">
              <a:lnSpc>
                <a:spcPts val="3489"/>
              </a:lnSpc>
              <a:buFont typeface="Arial"/>
              <a:buChar char="•"/>
            </a:pPr>
            <a:r>
              <a:rPr lang="en-US" sz="2791">
                <a:solidFill>
                  <a:srgbClr val="10265D"/>
                </a:solidFill>
                <a:latin typeface="Gowun Dodum"/>
                <a:ea typeface="Gowun Dodum"/>
                <a:cs typeface="Gowun Dodum"/>
                <a:sym typeface="Gowun Dodum"/>
              </a:rPr>
              <a:t>Deterministic behavior: Standard LIF lacks stochastic elements present in real neurons</a:t>
            </a:r>
          </a:p>
          <a:p>
            <a:pPr algn="l" marL="602779" indent="-301389" lvl="1">
              <a:lnSpc>
                <a:spcPts val="3489"/>
              </a:lnSpc>
              <a:buFont typeface="Arial"/>
              <a:buChar char="•"/>
            </a:pPr>
            <a:r>
              <a:rPr lang="en-US" sz="2791">
                <a:solidFill>
                  <a:srgbClr val="10265D"/>
                </a:solidFill>
                <a:latin typeface="Gowun Dodum"/>
                <a:ea typeface="Gowun Dodum"/>
                <a:cs typeface="Gowun Dodum"/>
                <a:sym typeface="Gowun Dodum"/>
              </a:rPr>
              <a:t>Simplified ion dynamics: Does not capture the complex interplay of multiple ion channel types</a:t>
            </a:r>
          </a:p>
          <a:p>
            <a:pPr algn="l" marL="602779" indent="-301389" lvl="1">
              <a:lnSpc>
                <a:spcPts val="3489"/>
              </a:lnSpc>
              <a:buFont typeface="Arial"/>
              <a:buChar char="•"/>
            </a:pPr>
            <a:r>
              <a:rPr lang="en-US" sz="2791">
                <a:solidFill>
                  <a:srgbClr val="10265D"/>
                </a:solidFill>
                <a:latin typeface="Gowun Dodum"/>
                <a:ea typeface="Gowun Dodum"/>
                <a:cs typeface="Gowun Dodum"/>
                <a:sym typeface="Gowun Dodum"/>
              </a:rPr>
              <a:t>Fixed threshold: Real neurons exhibit dynamic thresholds that adapt over time</a:t>
            </a:r>
          </a:p>
        </p:txBody>
      </p:sp>
      <p:sp>
        <p:nvSpPr>
          <p:cNvPr name="TextBox 4" id="4"/>
          <p:cNvSpPr txBox="true"/>
          <p:nvPr/>
        </p:nvSpPr>
        <p:spPr>
          <a:xfrm rot="0">
            <a:off x="9671190" y="3005669"/>
            <a:ext cx="7176607" cy="6992671"/>
          </a:xfrm>
          <a:prstGeom prst="rect">
            <a:avLst/>
          </a:prstGeom>
        </p:spPr>
        <p:txBody>
          <a:bodyPr anchor="t" rtlCol="false" tIns="0" lIns="0" bIns="0" rIns="0">
            <a:spAutoFit/>
          </a:bodyPr>
          <a:lstStyle/>
          <a:p>
            <a:pPr algn="l" marL="0" indent="0" lvl="0">
              <a:lnSpc>
                <a:spcPts val="3489"/>
              </a:lnSpc>
            </a:pPr>
            <a:r>
              <a:rPr lang="en-US" sz="2791">
                <a:solidFill>
                  <a:srgbClr val="10265D"/>
                </a:solidFill>
                <a:latin typeface="Gowun Dodum"/>
                <a:ea typeface="Gowun Dodum"/>
                <a:cs typeface="Gowun Dodum"/>
                <a:sym typeface="Gowun Dodum"/>
              </a:rPr>
              <a:t>Model Extensions</a:t>
            </a:r>
          </a:p>
          <a:p>
            <a:pPr algn="l" marL="0" indent="0" lvl="0">
              <a:lnSpc>
                <a:spcPts val="3489"/>
              </a:lnSpc>
            </a:pPr>
          </a:p>
          <a:p>
            <a:pPr algn="l" marL="0" indent="0" lvl="0">
              <a:lnSpc>
                <a:spcPts val="3489"/>
              </a:lnSpc>
            </a:pPr>
            <a:r>
              <a:rPr lang="en-US" sz="2791">
                <a:solidFill>
                  <a:srgbClr val="10265D"/>
                </a:solidFill>
                <a:latin typeface="Gowun Dodum"/>
                <a:ea typeface="Gowun Dodum"/>
                <a:cs typeface="Gowun Dodum"/>
                <a:sym typeface="Gowun Dodum"/>
              </a:rPr>
              <a:t>Several variants address these limitations while maintaining computational efficiency:</a:t>
            </a:r>
          </a:p>
          <a:p>
            <a:pPr algn="l" marL="602779" indent="-301389" lvl="1">
              <a:lnSpc>
                <a:spcPts val="3489"/>
              </a:lnSpc>
              <a:buFont typeface="Arial"/>
              <a:buChar char="•"/>
            </a:pPr>
            <a:r>
              <a:rPr lang="en-US" sz="2791">
                <a:solidFill>
                  <a:srgbClr val="10265D"/>
                </a:solidFill>
                <a:latin typeface="Gowun Dodum"/>
                <a:ea typeface="Gowun Dodum"/>
                <a:cs typeface="Gowun Dodum"/>
                <a:sym typeface="Gowun Dodum"/>
              </a:rPr>
              <a:t>Adaptive LIF: Incorporates spike frequency adaptation through additional slow variables</a:t>
            </a:r>
          </a:p>
          <a:p>
            <a:pPr algn="l" marL="602779" indent="-301389" lvl="1">
              <a:lnSpc>
                <a:spcPts val="3489"/>
              </a:lnSpc>
              <a:buFont typeface="Arial"/>
              <a:buChar char="•"/>
            </a:pPr>
            <a:r>
              <a:rPr lang="en-US" sz="2791">
                <a:solidFill>
                  <a:srgbClr val="10265D"/>
                </a:solidFill>
                <a:latin typeface="Gowun Dodum"/>
                <a:ea typeface="Gowun Dodum"/>
                <a:cs typeface="Gowun Dodum"/>
                <a:sym typeface="Gowun Dodum"/>
              </a:rPr>
              <a:t>Exponential LIF (EIF): Adds exponential term near threshold for more realistic spike initiation</a:t>
            </a:r>
          </a:p>
          <a:p>
            <a:pPr algn="l" marL="602779" indent="-301389" lvl="1">
              <a:lnSpc>
                <a:spcPts val="3489"/>
              </a:lnSpc>
              <a:buFont typeface="Arial"/>
              <a:buChar char="•"/>
            </a:pPr>
            <a:r>
              <a:rPr lang="en-US" sz="2791">
                <a:solidFill>
                  <a:srgbClr val="10265D"/>
                </a:solidFill>
                <a:latin typeface="Gowun Dodum"/>
                <a:ea typeface="Gowun Dodum"/>
                <a:cs typeface="Gowun Dodum"/>
                <a:sym typeface="Gowun Dodum"/>
              </a:rPr>
              <a:t>Conductance-based models: Replace current injection with synaptic conductances</a:t>
            </a:r>
          </a:p>
          <a:p>
            <a:pPr algn="l" marL="602779" indent="-301389" lvl="1">
              <a:lnSpc>
                <a:spcPts val="3489"/>
              </a:lnSpc>
              <a:buFont typeface="Arial"/>
              <a:buChar char="•"/>
            </a:pPr>
            <a:r>
              <a:rPr lang="en-US" sz="2791">
                <a:solidFill>
                  <a:srgbClr val="10265D"/>
                </a:solidFill>
                <a:latin typeface="Gowun Dodum"/>
                <a:ea typeface="Gowun Dodum"/>
                <a:cs typeface="Gowun Dodum"/>
                <a:sym typeface="Gowun Dodum"/>
              </a:rPr>
              <a:t>Comparison to Hodgkin-Huxley: Full biophysical models offer richer dynamics but at higher computational cost</a:t>
            </a:r>
          </a:p>
        </p:txBody>
      </p:sp>
      <p:grpSp>
        <p:nvGrpSpPr>
          <p:cNvPr name="Group 5" id="5"/>
          <p:cNvGrpSpPr/>
          <p:nvPr/>
        </p:nvGrpSpPr>
        <p:grpSpPr>
          <a:xfrm rot="0">
            <a:off x="16252466" y="-514350"/>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65">
                <a:alpha val="45882"/>
              </a:srgbClr>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8" id="8"/>
          <p:cNvGrpSpPr/>
          <p:nvPr/>
        </p:nvGrpSpPr>
        <p:grpSpPr>
          <a:xfrm rot="0">
            <a:off x="15912539" y="565163"/>
            <a:ext cx="3086100" cy="30861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65"/>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1" id="11"/>
          <p:cNvGrpSpPr/>
          <p:nvPr/>
        </p:nvGrpSpPr>
        <p:grpSpPr>
          <a:xfrm rot="0">
            <a:off x="-777845" y="9476215"/>
            <a:ext cx="3613090" cy="4482765"/>
            <a:chOff x="0" y="0"/>
            <a:chExt cx="951596" cy="1180646"/>
          </a:xfrm>
        </p:grpSpPr>
        <p:sp>
          <p:nvSpPr>
            <p:cNvPr name="Freeform 12" id="12"/>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solidFill>
              <a:prstDash val="solid"/>
              <a:miter/>
            </a:ln>
          </p:spPr>
        </p:sp>
        <p:sp>
          <p:nvSpPr>
            <p:cNvPr name="TextBox 13" id="13"/>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sp>
        <p:nvSpPr>
          <p:cNvPr name="Freeform 14" id="14"/>
          <p:cNvSpPr/>
          <p:nvPr/>
        </p:nvSpPr>
        <p:spPr>
          <a:xfrm flipH="false" flipV="false" rot="0">
            <a:off x="17149924" y="9122040"/>
            <a:ext cx="1138076" cy="1164960"/>
          </a:xfrm>
          <a:custGeom>
            <a:avLst/>
            <a:gdLst/>
            <a:ahLst/>
            <a:cxnLst/>
            <a:rect r="r" b="b" t="t" l="l"/>
            <a:pathLst>
              <a:path h="1164960" w="1138076">
                <a:moveTo>
                  <a:pt x="0" y="0"/>
                </a:moveTo>
                <a:lnTo>
                  <a:pt x="1138076" y="0"/>
                </a:lnTo>
                <a:lnTo>
                  <a:pt x="1138076" y="1164960"/>
                </a:lnTo>
                <a:lnTo>
                  <a:pt x="0" y="1164960"/>
                </a:lnTo>
                <a:lnTo>
                  <a:pt x="0" y="0"/>
                </a:lnTo>
                <a:close/>
              </a:path>
            </a:pathLst>
          </a:custGeom>
          <a:blipFill>
            <a:blip r:embed="rId2"/>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DFEFF"/>
        </a:solidFill>
      </p:bgPr>
    </p:bg>
    <p:spTree>
      <p:nvGrpSpPr>
        <p:cNvPr id="1" name=""/>
        <p:cNvGrpSpPr/>
        <p:nvPr/>
      </p:nvGrpSpPr>
      <p:grpSpPr>
        <a:xfrm>
          <a:off x="0" y="0"/>
          <a:ext cx="0" cy="0"/>
          <a:chOff x="0" y="0"/>
          <a:chExt cx="0" cy="0"/>
        </a:xfrm>
      </p:grpSpPr>
      <p:sp>
        <p:nvSpPr>
          <p:cNvPr name="TextBox 2" id="2"/>
          <p:cNvSpPr txBox="true"/>
          <p:nvPr/>
        </p:nvSpPr>
        <p:spPr>
          <a:xfrm rot="0">
            <a:off x="1953810" y="453969"/>
            <a:ext cx="14598539" cy="2797174"/>
          </a:xfrm>
          <a:prstGeom prst="rect">
            <a:avLst/>
          </a:prstGeom>
        </p:spPr>
        <p:txBody>
          <a:bodyPr anchor="t" rtlCol="false" tIns="0" lIns="0" bIns="0" rIns="0">
            <a:spAutoFit/>
          </a:bodyPr>
          <a:lstStyle/>
          <a:p>
            <a:pPr algn="ctr" marL="0" indent="0" lvl="0">
              <a:lnSpc>
                <a:spcPts val="11200"/>
              </a:lnSpc>
              <a:spcBef>
                <a:spcPct val="0"/>
              </a:spcBef>
            </a:pPr>
            <a:r>
              <a:rPr lang="en-US" b="true" sz="8000">
                <a:solidFill>
                  <a:srgbClr val="183965"/>
                </a:solidFill>
                <a:latin typeface="League Spartan"/>
                <a:ea typeface="League Spartan"/>
                <a:cs typeface="League Spartan"/>
                <a:sym typeface="League Spartan"/>
              </a:rPr>
              <a:t>Applications in Neural Coding and Simulations</a:t>
            </a:r>
          </a:p>
        </p:txBody>
      </p:sp>
      <p:sp>
        <p:nvSpPr>
          <p:cNvPr name="TextBox 3" id="3"/>
          <p:cNvSpPr txBox="true"/>
          <p:nvPr/>
        </p:nvSpPr>
        <p:spPr>
          <a:xfrm rot="0">
            <a:off x="1850348" y="4032752"/>
            <a:ext cx="14252779" cy="5532802"/>
          </a:xfrm>
          <a:prstGeom prst="rect">
            <a:avLst/>
          </a:prstGeom>
        </p:spPr>
        <p:txBody>
          <a:bodyPr anchor="t" rtlCol="false" tIns="0" lIns="0" bIns="0" rIns="0">
            <a:spAutoFit/>
          </a:bodyPr>
          <a:lstStyle/>
          <a:p>
            <a:pPr algn="l" marL="689268" indent="-344634" lvl="1">
              <a:lnSpc>
                <a:spcPts val="3990"/>
              </a:lnSpc>
              <a:buFont typeface="Arial"/>
              <a:buChar char="•"/>
            </a:pPr>
            <a:r>
              <a:rPr lang="en-US" sz="3192">
                <a:solidFill>
                  <a:srgbClr val="10265D"/>
                </a:solidFill>
                <a:latin typeface="Gowun Dodum"/>
                <a:ea typeface="Gowun Dodum"/>
                <a:cs typeface="Gowun Dodum"/>
                <a:sym typeface="Gowun Dodum"/>
              </a:rPr>
              <a:t>LIF models enable efficient simulation of large-scale neural networks containing millions of neurons, making them invaluable for studying brain-wide dynamics. </a:t>
            </a:r>
          </a:p>
          <a:p>
            <a:pPr algn="l" marL="689268" indent="-344634" lvl="1">
              <a:lnSpc>
                <a:spcPts val="3990"/>
              </a:lnSpc>
              <a:buFont typeface="Arial"/>
              <a:buChar char="•"/>
            </a:pPr>
            <a:r>
              <a:rPr lang="en-US" sz="3192">
                <a:solidFill>
                  <a:srgbClr val="10265D"/>
                </a:solidFill>
                <a:latin typeface="Gowun Dodum"/>
                <a:ea typeface="Gowun Dodum"/>
                <a:cs typeface="Gowun Dodum"/>
                <a:sym typeface="Gowun Dodum"/>
              </a:rPr>
              <a:t>Researchers use these models to investigate neural coding strategies, examining how populations of neurons encode and transmit information through spike timing and firing rates. </a:t>
            </a:r>
          </a:p>
          <a:p>
            <a:pPr algn="l" marL="689268" indent="-344634" lvl="1">
              <a:lnSpc>
                <a:spcPts val="3990"/>
              </a:lnSpc>
              <a:buFont typeface="Arial"/>
              <a:buChar char="•"/>
            </a:pPr>
            <a:r>
              <a:rPr lang="en-US" sz="3192">
                <a:solidFill>
                  <a:srgbClr val="10265D"/>
                </a:solidFill>
                <a:latin typeface="Gowun Dodum"/>
                <a:ea typeface="Gowun Dodum"/>
                <a:cs typeface="Gowun Dodum"/>
                <a:sym typeface="Gowun Dodum"/>
              </a:rPr>
              <a:t>Crucially, LIF models serve as a bridge between theory and experiment, allowing computational predictions to be validated against intracellular recordings and population activity data. </a:t>
            </a:r>
          </a:p>
          <a:p>
            <a:pPr algn="l" marL="689268" indent="-344634" lvl="1">
              <a:lnSpc>
                <a:spcPts val="3990"/>
              </a:lnSpc>
              <a:buFont typeface="Arial"/>
              <a:buChar char="•"/>
            </a:pPr>
            <a:r>
              <a:rPr lang="en-US" sz="3192">
                <a:solidFill>
                  <a:srgbClr val="10265D"/>
                </a:solidFill>
                <a:latin typeface="Gowun Dodum"/>
                <a:ea typeface="Gowun Dodum"/>
                <a:cs typeface="Gowun Dodum"/>
                <a:sym typeface="Gowun Dodum"/>
              </a:rPr>
              <a:t>This practical utility has established LIF as a cornerstone tool in modern computational neuroscience research.</a:t>
            </a:r>
          </a:p>
        </p:txBody>
      </p:sp>
      <p:grpSp>
        <p:nvGrpSpPr>
          <p:cNvPr name="Group 4" id="4"/>
          <p:cNvGrpSpPr/>
          <p:nvPr/>
        </p:nvGrpSpPr>
        <p:grpSpPr>
          <a:xfrm rot="0">
            <a:off x="-1305063" y="-442577"/>
            <a:ext cx="3155411" cy="315541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65"/>
            </a:solidFill>
          </p:spPr>
        </p:sp>
        <p:sp>
          <p:nvSpPr>
            <p:cNvPr name="TextBox 6" id="6"/>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7" id="7"/>
          <p:cNvGrpSpPr/>
          <p:nvPr/>
        </p:nvGrpSpPr>
        <p:grpSpPr>
          <a:xfrm rot="0">
            <a:off x="-1500611" y="797341"/>
            <a:ext cx="2863978" cy="2863978"/>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B303"/>
            </a:solidFill>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sp>
        <p:nvSpPr>
          <p:cNvPr name="Freeform 10" id="10"/>
          <p:cNvSpPr/>
          <p:nvPr/>
        </p:nvSpPr>
        <p:spPr>
          <a:xfrm flipH="false" flipV="false" rot="0">
            <a:off x="17149924" y="9122040"/>
            <a:ext cx="1138076" cy="1164960"/>
          </a:xfrm>
          <a:custGeom>
            <a:avLst/>
            <a:gdLst/>
            <a:ahLst/>
            <a:cxnLst/>
            <a:rect r="r" b="b" t="t" l="l"/>
            <a:pathLst>
              <a:path h="1164960" w="1138076">
                <a:moveTo>
                  <a:pt x="0" y="0"/>
                </a:moveTo>
                <a:lnTo>
                  <a:pt x="1138076" y="0"/>
                </a:lnTo>
                <a:lnTo>
                  <a:pt x="1138076" y="1164960"/>
                </a:lnTo>
                <a:lnTo>
                  <a:pt x="0" y="1164960"/>
                </a:lnTo>
                <a:lnTo>
                  <a:pt x="0" y="0"/>
                </a:lnTo>
                <a:close/>
              </a:path>
            </a:pathLst>
          </a:custGeom>
          <a:blipFill>
            <a:blip r:embed="rId2"/>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DFEFF"/>
        </a:solidFill>
      </p:bgPr>
    </p:bg>
    <p:spTree>
      <p:nvGrpSpPr>
        <p:cNvPr id="1" name=""/>
        <p:cNvGrpSpPr/>
        <p:nvPr/>
      </p:nvGrpSpPr>
      <p:grpSpPr>
        <a:xfrm>
          <a:off x="0" y="0"/>
          <a:ext cx="0" cy="0"/>
          <a:chOff x="0" y="0"/>
          <a:chExt cx="0" cy="0"/>
        </a:xfrm>
      </p:grpSpPr>
      <p:sp>
        <p:nvSpPr>
          <p:cNvPr name="TextBox 2" id="2"/>
          <p:cNvSpPr txBox="true"/>
          <p:nvPr/>
        </p:nvSpPr>
        <p:spPr>
          <a:xfrm rot="0">
            <a:off x="6181130" y="3481169"/>
            <a:ext cx="11763933" cy="2066925"/>
          </a:xfrm>
          <a:prstGeom prst="rect">
            <a:avLst/>
          </a:prstGeom>
        </p:spPr>
        <p:txBody>
          <a:bodyPr anchor="t" rtlCol="false" tIns="0" lIns="0" bIns="0" rIns="0">
            <a:spAutoFit/>
          </a:bodyPr>
          <a:lstStyle/>
          <a:p>
            <a:pPr algn="ctr" marL="0" indent="0" lvl="0">
              <a:lnSpc>
                <a:spcPts val="16800"/>
              </a:lnSpc>
              <a:spcBef>
                <a:spcPct val="0"/>
              </a:spcBef>
            </a:pPr>
            <a:r>
              <a:rPr lang="en-US" b="true" sz="12000">
                <a:solidFill>
                  <a:srgbClr val="183965"/>
                </a:solidFill>
                <a:latin typeface="League Spartan"/>
                <a:ea typeface="League Spartan"/>
                <a:cs typeface="League Spartan"/>
                <a:sym typeface="League Spartan"/>
              </a:rPr>
              <a:t>Q &amp; A?</a:t>
            </a:r>
          </a:p>
        </p:txBody>
      </p:sp>
      <p:grpSp>
        <p:nvGrpSpPr>
          <p:cNvPr name="Group 3" id="3"/>
          <p:cNvGrpSpPr/>
          <p:nvPr/>
        </p:nvGrpSpPr>
        <p:grpSpPr>
          <a:xfrm rot="0">
            <a:off x="-1736209" y="1711334"/>
            <a:ext cx="5317974" cy="6598016"/>
            <a:chOff x="0" y="0"/>
            <a:chExt cx="951596" cy="1180646"/>
          </a:xfrm>
        </p:grpSpPr>
        <p:sp>
          <p:nvSpPr>
            <p:cNvPr name="Freeform 4" id="4"/>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alpha val="21961"/>
                </a:srgbClr>
              </a:solidFill>
              <a:prstDash val="solid"/>
              <a:miter/>
            </a:ln>
          </p:spPr>
        </p:sp>
        <p:sp>
          <p:nvSpPr>
            <p:cNvPr name="TextBox 5" id="5"/>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grpSp>
        <p:nvGrpSpPr>
          <p:cNvPr name="Group 6" id="6"/>
          <p:cNvGrpSpPr/>
          <p:nvPr/>
        </p:nvGrpSpPr>
        <p:grpSpPr>
          <a:xfrm rot="0">
            <a:off x="-252862" y="2375252"/>
            <a:ext cx="5317974" cy="6598016"/>
            <a:chOff x="0" y="0"/>
            <a:chExt cx="951596" cy="1180646"/>
          </a:xfrm>
        </p:grpSpPr>
        <p:sp>
          <p:nvSpPr>
            <p:cNvPr name="Freeform 7" id="7"/>
            <p:cNvSpPr/>
            <p:nvPr/>
          </p:nvSpPr>
          <p:spPr>
            <a:xfrm flipH="false" flipV="false" rot="0">
              <a:off x="0" y="0"/>
              <a:ext cx="951596" cy="1180646"/>
            </a:xfrm>
            <a:custGeom>
              <a:avLst/>
              <a:gdLst/>
              <a:ahLst/>
              <a:cxnLst/>
              <a:rect r="r" b="b" t="t" l="l"/>
              <a:pathLst>
                <a:path h="1180646" w="951596">
                  <a:moveTo>
                    <a:pt x="0" y="0"/>
                  </a:moveTo>
                  <a:lnTo>
                    <a:pt x="951596" y="0"/>
                  </a:lnTo>
                  <a:lnTo>
                    <a:pt x="951596" y="1180646"/>
                  </a:lnTo>
                  <a:lnTo>
                    <a:pt x="0" y="1180646"/>
                  </a:lnTo>
                  <a:close/>
                </a:path>
              </a:pathLst>
            </a:custGeom>
            <a:ln w="219075" cap="sq">
              <a:solidFill>
                <a:srgbClr val="182B5C"/>
              </a:solidFill>
              <a:prstDash val="solid"/>
              <a:miter/>
            </a:ln>
          </p:spPr>
        </p:sp>
        <p:sp>
          <p:nvSpPr>
            <p:cNvPr name="TextBox 8" id="8"/>
            <p:cNvSpPr txBox="true"/>
            <p:nvPr/>
          </p:nvSpPr>
          <p:spPr>
            <a:xfrm>
              <a:off x="0" y="-47625"/>
              <a:ext cx="951596" cy="1228271"/>
            </a:xfrm>
            <a:prstGeom prst="rect">
              <a:avLst/>
            </a:prstGeom>
          </p:spPr>
          <p:txBody>
            <a:bodyPr anchor="ctr" rtlCol="false" tIns="50800" lIns="50800" bIns="50800" rIns="50800"/>
            <a:lstStyle/>
            <a:p>
              <a:pPr algn="ctr" marL="0" indent="0" lvl="0">
                <a:lnSpc>
                  <a:spcPts val="3497"/>
                </a:lnSpc>
              </a:pPr>
            </a:p>
          </p:txBody>
        </p:sp>
      </p:grpSp>
      <p:grpSp>
        <p:nvGrpSpPr>
          <p:cNvPr name="Group 9" id="9"/>
          <p:cNvGrpSpPr/>
          <p:nvPr/>
        </p:nvGrpSpPr>
        <p:grpSpPr>
          <a:xfrm rot="0">
            <a:off x="426354" y="3719294"/>
            <a:ext cx="3155411" cy="315541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65"/>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grpSp>
        <p:nvGrpSpPr>
          <p:cNvPr name="Group 12" id="12"/>
          <p:cNvGrpSpPr/>
          <p:nvPr/>
        </p:nvGrpSpPr>
        <p:grpSpPr>
          <a:xfrm rot="0">
            <a:off x="1881520" y="4527303"/>
            <a:ext cx="2863978" cy="286397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B303"/>
            </a:solidFill>
          </p:spPr>
        </p:sp>
        <p:sp>
          <p:nvSpPr>
            <p:cNvPr name="TextBox 14" id="14"/>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7"/>
                </a:lnSpc>
              </a:pPr>
            </a:p>
          </p:txBody>
        </p:sp>
      </p:grpSp>
      <p:sp>
        <p:nvSpPr>
          <p:cNvPr name="Freeform 15" id="15"/>
          <p:cNvSpPr/>
          <p:nvPr/>
        </p:nvSpPr>
        <p:spPr>
          <a:xfrm flipH="false" flipV="false" rot="0">
            <a:off x="17149924" y="9122040"/>
            <a:ext cx="1138076" cy="1164960"/>
          </a:xfrm>
          <a:custGeom>
            <a:avLst/>
            <a:gdLst/>
            <a:ahLst/>
            <a:cxnLst/>
            <a:rect r="r" b="b" t="t" l="l"/>
            <a:pathLst>
              <a:path h="1164960" w="1138076">
                <a:moveTo>
                  <a:pt x="0" y="0"/>
                </a:moveTo>
                <a:lnTo>
                  <a:pt x="1138076" y="0"/>
                </a:lnTo>
                <a:lnTo>
                  <a:pt x="1138076" y="1164960"/>
                </a:lnTo>
                <a:lnTo>
                  <a:pt x="0" y="1164960"/>
                </a:lnTo>
                <a:lnTo>
                  <a:pt x="0" y="0"/>
                </a:lnTo>
                <a:close/>
              </a:path>
            </a:pathLst>
          </a:custGeom>
          <a:blipFill>
            <a:blip r:embed="rId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DAHJX8lT6eI</dc:identifier>
  <dcterms:modified xsi:type="dcterms:W3CDTF">2011-08-01T06:04:30Z</dcterms:modified>
  <cp:revision>1</cp:revision>
  <dc:title>Theoretical Foundations of LIF Dynamics</dc:title>
</cp:coreProperties>
</file>