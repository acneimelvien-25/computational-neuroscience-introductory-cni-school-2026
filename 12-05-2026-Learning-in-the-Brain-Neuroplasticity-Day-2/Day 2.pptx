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27.gif" ContentType="image/gif"/>
  <Override PartName="/ppt/media/image10.svg" ContentType="image/svg"/>
  <Override PartName="/ppt/media/image3.svg" ContentType="image/svg"/>
  <Override PartName="/ppt/media/image46.svg" ContentType="image/svg"/>
  <Override PartName="/ppt/media/image50.svg" ContentType="image/svg"/>
  <Override PartName="/ppt/media/image24.svg" ContentType="image/svg"/>
  <Override PartName="/ppt/media/image31.svg" ContentType="image/svg"/>
  <Override PartName="/ppt/media/image48.svg" ContentType="image/svg"/>
  <Override PartName="/ppt/media/image52.svg" ContentType="image/svg"/>
  <Override PartName="/ppt/media/image42.svg" ContentType="image/svg"/>
  <Override PartName="/ppt/media/image44.svg" ContentType="image/svg"/>
  <Override PartName="/ppt/media/image8.svg" ContentType="image/svg"/>
  <Override PartName="/ppt/media/image39.svg" ContentType="image/svg"/>
  <Override PartName="/ppt/media/image5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8288000" cy="10287000"/>
  <p:notesSz cx="7772400" cy="10058400"/>
  <p:embeddedFontLst>
    <p:embeddedFont>
      <p:font typeface="Anca Coder Bold"/>
      <p:bold r:id="rId28"/>
    </p:embeddedFont>
    <p:embeddedFont>
      <p:font typeface="Times New Roman MT"/>
      <p:regular r:id="rId29"/>
    </p:embeddedFont>
    <p:embeddedFont>
      <p:font typeface="Cormorant Garamond Bold"/>
      <p:bold r:id="rId30"/>
    </p:embeddedFont>
    <p:embeddedFont>
      <p:font typeface="Times New Roman MT Bold"/>
      <p:bold r:id="rId31"/>
    </p:embeddedFont>
    <p:embeddedFont>
      <p:font typeface="Cormorant Garamond Bold Italics"/>
      <p:boldItalic r:id="rId32"/>
    </p:embeddedFont>
    <p:embeddedFont>
      <p:font typeface="Times New Roman MT Italics"/>
      <p:italic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Droid Sans Devanagari"/>
      <p:regular r:id="rId3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font" Target="fonts/Font_1_Anca_Coder_Bold_Bold.fntdata"/><Relationship Id="rId29" Type="http://schemas.openxmlformats.org/officeDocument/2006/relationships/font" Target="fonts/Font_2_Times_New_Roman_MT_Regular.fntdata"/><Relationship Id="rId30" Type="http://schemas.openxmlformats.org/officeDocument/2006/relationships/font" Target="fonts/Font_3_Cormorant_Garamond_Bold_Bold.fntdata"/><Relationship Id="rId31" Type="http://schemas.openxmlformats.org/officeDocument/2006/relationships/font" Target="fonts/Font_4_Times_New_Roman_MT_Bold_Bold.fntdata"/><Relationship Id="rId32" Type="http://schemas.openxmlformats.org/officeDocument/2006/relationships/font" Target="fonts/Font_5_Cormorant_Garamond_Bold_Italics_BoldItalic.fntdata"/><Relationship Id="rId33" Type="http://schemas.openxmlformats.org/officeDocument/2006/relationships/font" Target="fonts/Font_6_Times_New_Roman_MT_Italics_Italic.fntdata"/><Relationship Id="rId34" Type="http://schemas.openxmlformats.org/officeDocument/2006/relationships/font" Target="fonts/Font_7_Roboto_Regular.fntdata"/><Relationship Id="rId35" Type="http://schemas.openxmlformats.org/officeDocument/2006/relationships/font" Target="fonts/Font_8_Roboto_Bold.fntdata"/><Relationship Id="rId36" Type="http://schemas.openxmlformats.org/officeDocument/2006/relationships/font" Target="fonts/Font_9_Roboto_Italic.fntdata"/><Relationship Id="rId37" Type="http://schemas.openxmlformats.org/officeDocument/2006/relationships/font" Target="fonts/Font_10_Roboto_BoldItalic.fntdata"/><Relationship Id="rId38" Type="http://schemas.openxmlformats.org/officeDocument/2006/relationships/font" Target="fonts/Font_11_Droid_Sans_Devanagari_Regular.fntdata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889045-4598-4A49-BB6D-F95857229F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1B086B-6171-4E80-801D-E8BE115226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FCEEDA-02D2-4EAA-85C4-64589DDA49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3ED7A1-DFB4-4CA6-9515-4B5321B3ED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29A1E4-F9C5-40A1-BBEC-7240E24173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8780B4-BC94-4F89-BD56-F78FF0FE33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0EA370-4ED4-4FF5-9DAC-2BDCA1E708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A35668-1FB3-465B-9BF1-DC76CA07D8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5754EA-337B-460B-8AD2-2130C33A05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37E025-E9B7-455B-BE2B-9FF00CA111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400" cy="171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400" cy="596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1111A3-2ECA-4209-B11C-D2F4B5CD76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image" Target="../media/image14.jpeg"/><Relationship Id="rId7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image" Target="../media/image17.jpeg"/><Relationship Id="rId7" Type="http://schemas.openxmlformats.org/officeDocument/2006/relationships/image" Target="../media/image18.jpeg"/><Relationship Id="rId8" Type="http://schemas.openxmlformats.org/officeDocument/2006/relationships/image" Target="../media/image19.png"/><Relationship Id="rId9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Relationship Id="rId9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6.png"/><Relationship Id="rId6" Type="http://schemas.openxmlformats.org/officeDocument/2006/relationships/image" Target="../media/image25.png"/><Relationship Id="rId7" Type="http://schemas.openxmlformats.org/officeDocument/2006/relationships/image" Target="../media/image25.png"/><Relationship Id="rId8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6.png"/><Relationship Id="rId6" Type="http://schemas.openxmlformats.org/officeDocument/2006/relationships/image" Target="../media/image25.png"/><Relationship Id="rId7" Type="http://schemas.openxmlformats.org/officeDocument/2006/relationships/image" Target="../media/image25.png"/><Relationship Id="rId8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6.png"/><Relationship Id="rId6" Type="http://schemas.openxmlformats.org/officeDocument/2006/relationships/image" Target="../media/image25.png"/><Relationship Id="rId7" Type="http://schemas.openxmlformats.org/officeDocument/2006/relationships/image" Target="../media/image25.png"/><Relationship Id="rId8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6.png"/><Relationship Id="rId6" Type="http://schemas.openxmlformats.org/officeDocument/2006/relationships/image" Target="../media/image27.gif"/><Relationship Id="rId7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28.png"/><Relationship Id="rId6" Type="http://schemas.openxmlformats.org/officeDocument/2006/relationships/image" Target="../media/image6.png"/><Relationship Id="rId7" Type="http://schemas.openxmlformats.org/officeDocument/2006/relationships/image" Target="../media/image29.png"/><Relationship Id="rId8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svg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hyperlink" Target="https://doi.org/10.1038/s41467-021-22332-8" TargetMode="External"/><Relationship Id="rId6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image" Target="../media/image33.jpeg"/><Relationship Id="rId7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image" Target="../media/image35.png"/><Relationship Id="rId7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6.png"/><Relationship Id="rId6" Type="http://schemas.openxmlformats.org/officeDocument/2006/relationships/image" Target="../media/image36.png"/><Relationship Id="rId7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6.png"/><Relationship Id="rId6" Type="http://schemas.openxmlformats.org/officeDocument/2006/relationships/image" Target="../media/image38.png"/><Relationship Id="rId7" Type="http://schemas.openxmlformats.org/officeDocument/2006/relationships/image" Target="../media/image39.svg"/><Relationship Id="rId8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svg"/><Relationship Id="rId8" Type="http://schemas.openxmlformats.org/officeDocument/2006/relationships/image" Target="../media/image43.png"/><Relationship Id="rId9" Type="http://schemas.openxmlformats.org/officeDocument/2006/relationships/image" Target="../media/image44.svg"/><Relationship Id="rId10" Type="http://schemas.openxmlformats.org/officeDocument/2006/relationships/image" Target="../media/image45.png"/><Relationship Id="rId11" Type="http://schemas.openxmlformats.org/officeDocument/2006/relationships/image" Target="../media/image46.svg"/><Relationship Id="rId12" Type="http://schemas.openxmlformats.org/officeDocument/2006/relationships/image" Target="../media/image47.png"/><Relationship Id="rId13" Type="http://schemas.openxmlformats.org/officeDocument/2006/relationships/image" Target="../media/image48.svg"/><Relationship Id="rId14" Type="http://schemas.openxmlformats.org/officeDocument/2006/relationships/image" Target="../media/image49.png"/><Relationship Id="rId15" Type="http://schemas.openxmlformats.org/officeDocument/2006/relationships/image" Target="../media/image50.svg"/><Relationship Id="rId16" Type="http://schemas.openxmlformats.org/officeDocument/2006/relationships/image" Target="../media/image51.png"/><Relationship Id="rId17" Type="http://schemas.openxmlformats.org/officeDocument/2006/relationships/image" Target="../media/image52.svg"/><Relationship Id="rId18" Type="http://schemas.openxmlformats.org/officeDocument/2006/relationships/image" Target="../media/image6.png"/><Relationship Id="rId19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0" y="38160"/>
            <a:ext cx="18286200" cy="10285200"/>
          </a:xfrm>
          <a:custGeom>
            <a:avLst/>
            <a:gdLst>
              <a:gd name="textAreaLeft" fmla="*/ 0 w 18286200"/>
              <a:gd name="textAreaRight" fmla="*/ 18288000 w 18286200"/>
              <a:gd name="textAreaTop" fmla="*/ 0 h 10285200"/>
              <a:gd name="textAreaBottom" fmla="*/ 10287000 h 102852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reeform 3"/>
          <p:cNvSpPr/>
          <p:nvPr/>
        </p:nvSpPr>
        <p:spPr>
          <a:xfrm flipH="1">
            <a:off x="13817880" y="0"/>
            <a:ext cx="4476240" cy="3523680"/>
          </a:xfrm>
          <a:custGeom>
            <a:avLst/>
            <a:gdLst>
              <a:gd name="textAreaLeft" fmla="*/ 1080 w 4476240"/>
              <a:gd name="textAreaRight" fmla="*/ 4479120 w 4476240"/>
              <a:gd name="textAreaTop" fmla="*/ 0 h 3523680"/>
              <a:gd name="textAreaBottom" fmla="*/ 3525480 h 3523680"/>
            </a:gdLst>
            <a:ahLst/>
            <a:cxnLst/>
            <a:rect l="textAreaLeft" t="textAreaTop" r="textAreaRight" b="textAreaBottom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reeform 4"/>
          <p:cNvSpPr/>
          <p:nvPr/>
        </p:nvSpPr>
        <p:spPr>
          <a:xfrm flipH="1" flipV="1" rot="10800000">
            <a:off x="-9000" y="5809320"/>
            <a:ext cx="4476240" cy="4476240"/>
          </a:xfrm>
          <a:custGeom>
            <a:avLst/>
            <a:gdLst>
              <a:gd name="textAreaLeft" fmla="*/ 1080 w 4476240"/>
              <a:gd name="textAreaRight" fmla="*/ 4479120 w 4476240"/>
              <a:gd name="textAreaTop" fmla="*/ 1080 h 4476240"/>
              <a:gd name="textAreaBottom" fmla="*/ 4479120 h 4476240"/>
            </a:gdLst>
            <a:ahLst/>
            <a:cxnLst/>
            <a:rect l="textAreaLeft" t="textAreaTop" r="textAreaRight" b="textAreaBottom"/>
            <a:pathLst>
              <a:path w="4478210" h="4478210">
                <a:moveTo>
                  <a:pt x="4478210" y="4478210"/>
                </a:moveTo>
                <a:lnTo>
                  <a:pt x="0" y="4478210"/>
                </a:lnTo>
                <a:lnTo>
                  <a:pt x="0" y="0"/>
                </a:lnTo>
                <a:lnTo>
                  <a:pt x="4478210" y="0"/>
                </a:lnTo>
                <a:lnTo>
                  <a:pt x="4478210" y="447821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AutoShape 5"/>
          <p:cNvSpPr/>
          <p:nvPr/>
        </p:nvSpPr>
        <p:spPr>
          <a:xfrm>
            <a:off x="2267640" y="2558160"/>
            <a:ext cx="360" cy="5000040"/>
          </a:xfrm>
          <a:prstGeom prst="line">
            <a:avLst/>
          </a:prstGeom>
          <a:ln w="57150">
            <a:solidFill>
              <a:srgbClr val="e2b3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2696400" y="3407400"/>
            <a:ext cx="13360320" cy="22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609"/>
              </a:lnSpc>
              <a:tabLst>
                <a:tab algn="l" pos="0"/>
              </a:tabLst>
            </a:pPr>
            <a:r>
              <a:rPr lang="en-US" sz="861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Learning in the Brain (Neuroplasticity)</a:t>
            </a:r>
            <a:endParaRPr lang="en-US" sz="8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2696400" y="6782040"/>
            <a:ext cx="10366200" cy="11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9"/>
              </a:lnSpc>
            </a:pPr>
            <a:r>
              <a:rPr lang="en-US" sz="3200" b="0" u="none" strike="noStrike">
                <a:solidFill>
                  <a:srgbClr val="2d3880"/>
                </a:solidFill>
                <a:effectLst/>
                <a:uFillTx/>
                <a:latin typeface="Times New Roman MT"/>
                <a:ea typeface="Times New Roman MT"/>
              </a:rPr>
              <a:t>TA name here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79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2d3880"/>
                </a:solidFill>
                <a:effectLst/>
                <a:uFillTx/>
                <a:latin typeface="Times New Roman MT"/>
                <a:ea typeface="Times New Roman MT"/>
              </a:rPr>
              <a:t>12-05-2026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2696400" y="2606400"/>
            <a:ext cx="1058328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9"/>
              </a:lnSpc>
              <a:tabLst>
                <a:tab algn="l" pos="0"/>
              </a:tabLst>
            </a:pP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" name="Group 9"/>
          <p:cNvGrpSpPr/>
          <p:nvPr/>
        </p:nvGrpSpPr>
        <p:grpSpPr>
          <a:xfrm>
            <a:off x="16581600" y="8427240"/>
            <a:ext cx="1208520" cy="1407600"/>
            <a:chOff x="16581600" y="8427240"/>
            <a:chExt cx="1208520" cy="1407600"/>
          </a:xfrm>
        </p:grpSpPr>
        <p:grpSp>
          <p:nvGrpSpPr>
            <p:cNvPr id="69" name="Group 10"/>
            <p:cNvGrpSpPr/>
            <p:nvPr/>
          </p:nvGrpSpPr>
          <p:grpSpPr>
            <a:xfrm>
              <a:off x="16581600" y="8427240"/>
              <a:ext cx="1208520" cy="1208520"/>
              <a:chOff x="16581600" y="8427240"/>
              <a:chExt cx="1208520" cy="1208520"/>
            </a:xfrm>
          </p:grpSpPr>
          <p:sp>
            <p:nvSpPr>
              <p:cNvPr id="70" name="Freeform 11"/>
              <p:cNvSpPr/>
              <p:nvPr/>
            </p:nvSpPr>
            <p:spPr>
              <a:xfrm>
                <a:off x="16581600" y="8427240"/>
                <a:ext cx="1208520" cy="1208520"/>
              </a:xfrm>
              <a:custGeom>
                <a:avLst/>
                <a:gdLst>
                  <a:gd name="textAreaLeft" fmla="*/ 0 w 1208520"/>
                  <a:gd name="textAreaRight" fmla="*/ 1210320 w 1208520"/>
                  <a:gd name="textAreaTop" fmla="*/ 0 h 1208520"/>
                  <a:gd name="textAreaBottom" fmla="*/ 1210320 h 120852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6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" name="TextBox 12"/>
            <p:cNvSpPr/>
            <p:nvPr/>
          </p:nvSpPr>
          <p:spPr>
            <a:xfrm>
              <a:off x="16643880" y="9431280"/>
              <a:ext cx="1083600" cy="40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814"/>
                </a:lnSpc>
              </a:pPr>
              <a:r>
                <a:rPr lang="en-US" sz="1560" b="1" u="none" spc="-40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5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3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2786400" y="1820160"/>
            <a:ext cx="1271340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08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SESSION OBJECTIVES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roup 5"/>
          <p:cNvGrpSpPr/>
          <p:nvPr/>
        </p:nvGrpSpPr>
        <p:grpSpPr>
          <a:xfrm>
            <a:off x="1976040" y="3350880"/>
            <a:ext cx="808560" cy="846360"/>
            <a:chOff x="1976040" y="3350880"/>
            <a:chExt cx="808560" cy="846360"/>
          </a:xfrm>
        </p:grpSpPr>
        <p:sp>
          <p:nvSpPr>
            <p:cNvPr id="76" name="Freeform 6"/>
            <p:cNvSpPr/>
            <p:nvPr/>
          </p:nvSpPr>
          <p:spPr>
            <a:xfrm>
              <a:off x="1976040" y="3388680"/>
              <a:ext cx="808560" cy="808560"/>
            </a:xfrm>
            <a:custGeom>
              <a:avLst/>
              <a:gdLst>
                <a:gd name="textAreaLeft" fmla="*/ 0 w 808560"/>
                <a:gd name="textAreaRight" fmla="*/ 810360 w 808560"/>
                <a:gd name="textAreaTop" fmla="*/ 0 h 808560"/>
                <a:gd name="textAreaBottom" fmla="*/ 810360 h 8085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b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7"/>
            <p:cNvSpPr/>
            <p:nvPr/>
          </p:nvSpPr>
          <p:spPr>
            <a:xfrm>
              <a:off x="2052000" y="3350880"/>
              <a:ext cx="656640" cy="77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440" rIns="64440" tIns="64440" bIns="64440" anchor="ctr">
              <a:noAutofit/>
            </a:bodyPr>
            <a:p>
              <a:pPr algn="ctr" defTabSz="914400">
                <a:lnSpc>
                  <a:spcPts val="3920"/>
                </a:lnSpc>
              </a:pPr>
              <a:r>
                <a: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 MT"/>
                  <a:ea typeface="Times New Roman MT"/>
                </a:rPr>
                <a:t>01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TextBox 8"/>
          <p:cNvSpPr/>
          <p:nvPr/>
        </p:nvSpPr>
        <p:spPr>
          <a:xfrm>
            <a:off x="3301920" y="3386160"/>
            <a:ext cx="993780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01"/>
              </a:lnSpc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The Neuron: Structure &amp; types 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3301920" y="4539240"/>
            <a:ext cx="62805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01"/>
              </a:lnSpc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Electrical properties of a Neuron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301920" y="5645160"/>
            <a:ext cx="62805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01"/>
              </a:lnSpc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Neuron Spikes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2"/>
          <p:cNvSpPr/>
          <p:nvPr/>
        </p:nvSpPr>
        <p:spPr>
          <a:xfrm>
            <a:off x="3301920" y="6810120"/>
            <a:ext cx="993780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01"/>
              </a:lnSpc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Learning in the Brain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3301920" y="7904160"/>
            <a:ext cx="9937800" cy="62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01"/>
              </a:lnSpc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Long term Potentiation 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14"/>
          <p:cNvGrpSpPr/>
          <p:nvPr/>
        </p:nvGrpSpPr>
        <p:grpSpPr>
          <a:xfrm>
            <a:off x="1976040" y="4504320"/>
            <a:ext cx="808560" cy="846360"/>
            <a:chOff x="1976040" y="4504320"/>
            <a:chExt cx="808560" cy="846360"/>
          </a:xfrm>
        </p:grpSpPr>
        <p:sp>
          <p:nvSpPr>
            <p:cNvPr id="85" name="Freeform 15"/>
            <p:cNvSpPr/>
            <p:nvPr/>
          </p:nvSpPr>
          <p:spPr>
            <a:xfrm>
              <a:off x="1976040" y="4542120"/>
              <a:ext cx="808560" cy="808560"/>
            </a:xfrm>
            <a:custGeom>
              <a:avLst/>
              <a:gdLst>
                <a:gd name="textAreaLeft" fmla="*/ 0 w 808560"/>
                <a:gd name="textAreaRight" fmla="*/ 810360 w 808560"/>
                <a:gd name="textAreaTop" fmla="*/ 0 h 808560"/>
                <a:gd name="textAreaBottom" fmla="*/ 810360 h 8085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b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16"/>
            <p:cNvSpPr/>
            <p:nvPr/>
          </p:nvSpPr>
          <p:spPr>
            <a:xfrm>
              <a:off x="2052000" y="4504320"/>
              <a:ext cx="656640" cy="77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440" rIns="64440" tIns="64440" bIns="64440" anchor="ctr">
              <a:noAutofit/>
            </a:bodyPr>
            <a:p>
              <a:pPr algn="ctr" defTabSz="914400">
                <a:lnSpc>
                  <a:spcPts val="3920"/>
                </a:lnSpc>
              </a:pPr>
              <a:r>
                <a: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 MT"/>
                  <a:ea typeface="Times New Roman MT"/>
                </a:rPr>
                <a:t>02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" name="Group 17"/>
          <p:cNvGrpSpPr/>
          <p:nvPr/>
        </p:nvGrpSpPr>
        <p:grpSpPr>
          <a:xfrm>
            <a:off x="1976040" y="5609880"/>
            <a:ext cx="808560" cy="846360"/>
            <a:chOff x="1976040" y="5609880"/>
            <a:chExt cx="808560" cy="846360"/>
          </a:xfrm>
        </p:grpSpPr>
        <p:sp>
          <p:nvSpPr>
            <p:cNvPr id="88" name="Freeform 18"/>
            <p:cNvSpPr/>
            <p:nvPr/>
          </p:nvSpPr>
          <p:spPr>
            <a:xfrm>
              <a:off x="1976040" y="5647680"/>
              <a:ext cx="808560" cy="808560"/>
            </a:xfrm>
            <a:custGeom>
              <a:avLst/>
              <a:gdLst>
                <a:gd name="textAreaLeft" fmla="*/ 0 w 808560"/>
                <a:gd name="textAreaRight" fmla="*/ 810360 w 808560"/>
                <a:gd name="textAreaTop" fmla="*/ 0 h 808560"/>
                <a:gd name="textAreaBottom" fmla="*/ 810360 h 8085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b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Box 19"/>
            <p:cNvSpPr/>
            <p:nvPr/>
          </p:nvSpPr>
          <p:spPr>
            <a:xfrm>
              <a:off x="2052000" y="5609880"/>
              <a:ext cx="656640" cy="77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440" rIns="64440" tIns="64440" bIns="64440" anchor="ctr">
              <a:noAutofit/>
            </a:bodyPr>
            <a:p>
              <a:pPr algn="ctr" defTabSz="914400">
                <a:lnSpc>
                  <a:spcPts val="3920"/>
                </a:lnSpc>
              </a:pPr>
              <a:r>
                <a: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 MT"/>
                  <a:ea typeface="Times New Roman MT"/>
                </a:rPr>
                <a:t>03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" name="Group 20"/>
          <p:cNvGrpSpPr/>
          <p:nvPr/>
        </p:nvGrpSpPr>
        <p:grpSpPr>
          <a:xfrm>
            <a:off x="1976040" y="6763320"/>
            <a:ext cx="808560" cy="846360"/>
            <a:chOff x="1976040" y="6763320"/>
            <a:chExt cx="808560" cy="846360"/>
          </a:xfrm>
        </p:grpSpPr>
        <p:sp>
          <p:nvSpPr>
            <p:cNvPr id="91" name="Freeform 21"/>
            <p:cNvSpPr/>
            <p:nvPr/>
          </p:nvSpPr>
          <p:spPr>
            <a:xfrm>
              <a:off x="1976040" y="6801120"/>
              <a:ext cx="808560" cy="808560"/>
            </a:xfrm>
            <a:custGeom>
              <a:avLst/>
              <a:gdLst>
                <a:gd name="textAreaLeft" fmla="*/ 0 w 808560"/>
                <a:gd name="textAreaRight" fmla="*/ 810360 w 808560"/>
                <a:gd name="textAreaTop" fmla="*/ 0 h 808560"/>
                <a:gd name="textAreaBottom" fmla="*/ 810360 h 8085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b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TextBox 22"/>
            <p:cNvSpPr/>
            <p:nvPr/>
          </p:nvSpPr>
          <p:spPr>
            <a:xfrm>
              <a:off x="2052000" y="6763320"/>
              <a:ext cx="656640" cy="77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440" rIns="64440" tIns="64440" bIns="64440" anchor="ctr">
              <a:noAutofit/>
            </a:bodyPr>
            <a:p>
              <a:pPr algn="ctr" defTabSz="914400">
                <a:lnSpc>
                  <a:spcPts val="3920"/>
                </a:lnSpc>
              </a:pPr>
              <a:r>
                <a: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 MT"/>
                  <a:ea typeface="Times New Roman MT"/>
                </a:rPr>
                <a:t>04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" name="Group 23"/>
          <p:cNvGrpSpPr/>
          <p:nvPr/>
        </p:nvGrpSpPr>
        <p:grpSpPr>
          <a:xfrm>
            <a:off x="1976040" y="7868880"/>
            <a:ext cx="808560" cy="846720"/>
            <a:chOff x="1976040" y="7868880"/>
            <a:chExt cx="808560" cy="846720"/>
          </a:xfrm>
        </p:grpSpPr>
        <p:sp>
          <p:nvSpPr>
            <p:cNvPr id="94" name="Freeform 24"/>
            <p:cNvSpPr/>
            <p:nvPr/>
          </p:nvSpPr>
          <p:spPr>
            <a:xfrm>
              <a:off x="1976040" y="7907040"/>
              <a:ext cx="808560" cy="808560"/>
            </a:xfrm>
            <a:custGeom>
              <a:avLst/>
              <a:gdLst>
                <a:gd name="textAreaLeft" fmla="*/ 0 w 808560"/>
                <a:gd name="textAreaRight" fmla="*/ 810360 w 808560"/>
                <a:gd name="textAreaTop" fmla="*/ 0 h 808560"/>
                <a:gd name="textAreaBottom" fmla="*/ 810360 h 8085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b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TextBox 25"/>
            <p:cNvSpPr/>
            <p:nvPr/>
          </p:nvSpPr>
          <p:spPr>
            <a:xfrm>
              <a:off x="2052000" y="7868880"/>
              <a:ext cx="656640" cy="77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440" rIns="64440" tIns="64440" bIns="64440" anchor="ctr">
              <a:noAutofit/>
            </a:bodyPr>
            <a:p>
              <a:pPr algn="ctr" defTabSz="914400">
                <a:lnSpc>
                  <a:spcPts val="3920"/>
                </a:lnSpc>
              </a:pPr>
              <a:r>
                <a: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 MT"/>
                  <a:ea typeface="Times New Roman MT"/>
                </a:rPr>
                <a:t>05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6" name="Group 26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97" name="Group 27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98" name="Freeform 28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" name="TextBox 29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Freeform 3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roup 8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104" name="Group 9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105" name="Freeform 10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" name="TextBox 11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7" name="Content Placeholder 4"/>
          <p:cNvPicPr/>
          <p:nvPr/>
        </p:nvPicPr>
        <p:blipFill>
          <a:blip r:embed="rId6"/>
          <a:srcRect l="8418" t="9422" r="0" b="3340"/>
          <a:stretch/>
        </p:blipFill>
        <p:spPr>
          <a:xfrm>
            <a:off x="273600" y="1819440"/>
            <a:ext cx="12587400" cy="44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14"/>
          <p:cNvPicPr/>
          <p:nvPr/>
        </p:nvPicPr>
        <p:blipFill>
          <a:blip r:embed="rId7"/>
          <a:srcRect l="5154" t="21168" r="12815" b="3450"/>
          <a:stretch/>
        </p:blipFill>
        <p:spPr>
          <a:xfrm>
            <a:off x="12725280" y="1036800"/>
            <a:ext cx="5091480" cy="347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15"/>
          <p:cNvPicPr/>
          <p:nvPr/>
        </p:nvPicPr>
        <p:blipFill>
          <a:blip r:embed="rId8"/>
          <a:stretch/>
        </p:blipFill>
        <p:spPr>
          <a:xfrm>
            <a:off x="9855360" y="5828760"/>
            <a:ext cx="5334120" cy="42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Arrow: Bent 16"/>
          <p:cNvSpPr/>
          <p:nvPr/>
        </p:nvSpPr>
        <p:spPr>
          <a:xfrm flipV="1">
            <a:off x="7703280" y="4093200"/>
            <a:ext cx="2182320" cy="3772440"/>
          </a:xfrm>
          <a:prstGeom prst="bentArrow">
            <a:avLst>
              <a:gd name="adj1" fmla="val 0"/>
              <a:gd name="adj2" fmla="val 7433"/>
              <a:gd name="adj3" fmla="val 18387"/>
              <a:gd name="adj4" fmla="val 57381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371600">
              <a:lnSpc>
                <a:spcPct val="100000"/>
              </a:lnSpc>
            </a:pP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2408760" y="1028880"/>
            <a:ext cx="1271340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08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THE NEURON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469080" y="7859880"/>
            <a:ext cx="7232400" cy="15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indent="-457200" defTabSz="914400">
              <a:lnSpc>
                <a:spcPts val="4048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Structure of a Neuron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048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Direction of impulse across axon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048"/>
              </a:lnSpc>
              <a:buClr>
                <a:srgbClr val="000000"/>
              </a:buClr>
              <a:buFont typeface="Arial"/>
              <a:buChar char="•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Structure of node of Ranvier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Freeform 4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935280" y="1054080"/>
            <a:ext cx="1632240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08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THE AXON TRANSPORT-impulse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57240" y="3600000"/>
            <a:ext cx="3979800" cy="21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indent="-457200" defTabSz="914400">
              <a:lnSpc>
                <a:spcPts val="4334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Movement of impulse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 or current across the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cell axon from cell body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to terminal button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8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8" name="Group 9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119" name="Group 10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120" name="Freeform 11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" name="TextBox 12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2" name="Picture 2" descr="Neuron Anatomy, Nerve Impulses, and Classifications"/>
          <p:cNvPicPr/>
          <p:nvPr/>
        </p:nvPicPr>
        <p:blipFill>
          <a:blip r:embed="rId6"/>
          <a:srcRect l="1955" t="4883" r="1900" b="5514"/>
          <a:stretch/>
        </p:blipFill>
        <p:spPr>
          <a:xfrm>
            <a:off x="4172040" y="2336760"/>
            <a:ext cx="12455640" cy="766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Freeform 4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635760" y="1028880"/>
            <a:ext cx="1718136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080"/>
              </a:lnSpc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THE AXON TRANSPORT</a:t>
            </a:r>
            <a:r>
              <a:rPr lang="en-US" sz="60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- </a:t>
            </a:r>
            <a:r>
              <a:rPr lang="en-US" sz="54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Neurotransmitters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57240" y="3600000"/>
            <a:ext cx="436068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4"/>
              </a:lnSpc>
            </a:pPr>
            <a:r>
              <a:rPr lang="en-US" sz="2890" b="1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Types of Axonal Transport</a:t>
            </a: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buClr>
                <a:srgbClr val="000000"/>
              </a:buClr>
              <a:buFont typeface="Arial"/>
              <a:buChar char="•"/>
            </a:pPr>
            <a:r>
              <a:rPr lang="en-US" sz="289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Anterograde</a:t>
            </a: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buClr>
                <a:srgbClr val="000000"/>
              </a:buClr>
              <a:buFont typeface="Arial"/>
              <a:buChar char="•"/>
            </a:pPr>
            <a:r>
              <a:rPr lang="en-US" sz="289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Retrograde </a:t>
            </a: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roup 9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129" name="Group 10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130" name="Freeform 11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1" name="TextBox 12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2" name="Content Placeholder 4"/>
          <p:cNvPicPr/>
          <p:nvPr/>
        </p:nvPicPr>
        <p:blipFill>
          <a:blip r:embed="rId6"/>
          <a:srcRect l="6199" t="9555" r="8964" b="0"/>
          <a:stretch/>
        </p:blipFill>
        <p:spPr>
          <a:xfrm>
            <a:off x="4419720" y="2313360"/>
            <a:ext cx="12453840" cy="768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6"/>
          <p:cNvSpPr/>
          <p:nvPr/>
        </p:nvSpPr>
        <p:spPr>
          <a:xfrm>
            <a:off x="7620120" y="2608200"/>
            <a:ext cx="266508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Anterograde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4" name="Straight Arrow Connector 12"/>
          <p:cNvCxnSpPr/>
          <p:nvPr/>
        </p:nvCxnSpPr>
        <p:spPr>
          <a:xfrm>
            <a:off x="7300080" y="3196440"/>
            <a:ext cx="3361320" cy="1800"/>
          </a:xfrm>
          <a:prstGeom prst="straightConnector1">
            <a:avLst/>
          </a:prstGeom>
          <a:ln w="76200">
            <a:solidFill>
              <a:srgbClr val="4a7ebb"/>
            </a:solidFill>
            <a:round/>
            <a:tailEnd len="med" type="triangle" w="med"/>
          </a:ln>
        </p:spPr>
      </p:cxnSp>
      <p:cxnSp>
        <p:nvCxnSpPr>
          <p:cNvPr id="135" name="Straight Arrow Connector 13"/>
          <p:cNvCxnSpPr/>
          <p:nvPr/>
        </p:nvCxnSpPr>
        <p:spPr>
          <a:xfrm flipH="1">
            <a:off x="7235280" y="9874800"/>
            <a:ext cx="3081240" cy="1800"/>
          </a:xfrm>
          <a:prstGeom prst="straightConnector1">
            <a:avLst/>
          </a:prstGeom>
          <a:ln w="76200">
            <a:solidFill>
              <a:srgbClr val="4a7ebb"/>
            </a:solidFill>
            <a:round/>
            <a:tailEnd len="med" type="triangle" w="med"/>
          </a:ln>
        </p:spPr>
      </p:cxnSp>
      <p:sp>
        <p:nvSpPr>
          <p:cNvPr id="136" name="TextBox 14"/>
          <p:cNvSpPr/>
          <p:nvPr/>
        </p:nvSpPr>
        <p:spPr>
          <a:xfrm>
            <a:off x="7620120" y="9175680"/>
            <a:ext cx="266508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Retrograde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Freeform 4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5"/>
          <p:cNvSpPr/>
          <p:nvPr/>
        </p:nvSpPr>
        <p:spPr>
          <a:xfrm>
            <a:off x="635760" y="1028880"/>
            <a:ext cx="1718136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080"/>
              </a:lnSpc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TYPES OF NEURONS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6"/>
          <p:cNvSpPr/>
          <p:nvPr/>
        </p:nvSpPr>
        <p:spPr>
          <a:xfrm>
            <a:off x="486360" y="5063040"/>
            <a:ext cx="4360680" cy="10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4"/>
              </a:lnSpc>
            </a:pPr>
            <a:r>
              <a:rPr lang="en-US" sz="289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Classification based on branches from Cell Body</a:t>
            </a: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2" name="Group 9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143" name="Group 10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144" name="Freeform 11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5" name="TextBox 12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6" name="Picture 6"/>
          <p:cNvPicPr/>
          <p:nvPr/>
        </p:nvPicPr>
        <p:blipFill>
          <a:blip r:embed="rId6"/>
          <a:srcRect l="40522" t="9340" r="0" b="7108"/>
          <a:stretch/>
        </p:blipFill>
        <p:spPr>
          <a:xfrm>
            <a:off x="5046840" y="2262600"/>
            <a:ext cx="11778840" cy="773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Freeform 4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552600" y="283680"/>
            <a:ext cx="1718136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080"/>
              </a:lnSpc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Electrical Recording in a Neuron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9829800" y="1940760"/>
            <a:ext cx="7903800" cy="10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4"/>
              </a:lnSpc>
            </a:pPr>
            <a:r>
              <a:rPr lang="en-US" sz="289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We can collect Brain signals through Electrical Recording </a:t>
            </a: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9601200" y="21888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2" name="Group 9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153" name="Group 10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154" name="Freeform 11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5" name="TextBox 12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6" name="Picture 2" descr="Activity and Communication within the Neuron"/>
          <p:cNvPicPr/>
          <p:nvPr/>
        </p:nvPicPr>
        <p:blipFill>
          <a:blip r:embed="rId6"/>
          <a:srcRect l="0" t="0" r="0" b="20280"/>
          <a:stretch/>
        </p:blipFill>
        <p:spPr>
          <a:xfrm>
            <a:off x="1071360" y="1414800"/>
            <a:ext cx="8070840" cy="48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Picture 4"/>
          <p:cNvPicPr/>
          <p:nvPr/>
        </p:nvPicPr>
        <p:blipFill>
          <a:blip r:embed="rId7"/>
          <a:stretch/>
        </p:blipFill>
        <p:spPr>
          <a:xfrm>
            <a:off x="6355080" y="4236840"/>
            <a:ext cx="11885400" cy="61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6" descr="A Scheme of recording the brain's bioelectrical waves (1) | Download  Scientific Diagram"/>
          <p:cNvPicPr/>
          <p:nvPr/>
        </p:nvPicPr>
        <p:blipFill>
          <a:blip r:embed="rId8"/>
          <a:stretch/>
        </p:blipFill>
        <p:spPr>
          <a:xfrm>
            <a:off x="0" y="6273720"/>
            <a:ext cx="6353280" cy="411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Freeform 4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635760" y="1028880"/>
            <a:ext cx="1718136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08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Membrane Channels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144000" y="5471640"/>
            <a:ext cx="7843320" cy="38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indent="-457200" defTabSz="914400">
              <a:lnSpc>
                <a:spcPts val="4334"/>
              </a:lnSpc>
              <a:buClr>
                <a:srgbClr val="000000"/>
              </a:buClr>
              <a:buFont typeface="OpenSymbol"/>
              <a:buChar char="-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Membranes have different ion channels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(Na+, K+) 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Purpose: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Allow movement of ions in and out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 of the cell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buClr>
                <a:srgbClr val="000000"/>
              </a:buClr>
              <a:buFont typeface="OpenSymbol"/>
              <a:buChar char="-"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This ionic movement is responsible for changes in polarity of the cell membrane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8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4" name="Group 9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165" name="Group 10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166" name="Freeform 11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67" name="TextBox 12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  <a:tabLst>
                  <a:tab algn="l" pos="0"/>
                </a:tabLst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68" name="Picture 2"/>
          <p:cNvPicPr/>
          <p:nvPr/>
        </p:nvPicPr>
        <p:blipFill>
          <a:blip r:embed="rId6"/>
          <a:srcRect l="0" t="0" r="0" b="52824"/>
          <a:stretch/>
        </p:blipFill>
        <p:spPr>
          <a:xfrm>
            <a:off x="2929680" y="2147760"/>
            <a:ext cx="7442640" cy="331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Content Placeholder 4"/>
          <p:cNvPicPr/>
          <p:nvPr/>
        </p:nvPicPr>
        <p:blipFill>
          <a:blip r:embed="rId7"/>
          <a:stretch/>
        </p:blipFill>
        <p:spPr>
          <a:xfrm>
            <a:off x="8293320" y="5785920"/>
            <a:ext cx="7290360" cy="42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Picture 13"/>
          <p:cNvPicPr/>
          <p:nvPr/>
        </p:nvPicPr>
        <p:blipFill>
          <a:blip r:embed="rId8"/>
          <a:srcRect l="0" t="52627" r="0" b="0"/>
          <a:stretch/>
        </p:blipFill>
        <p:spPr>
          <a:xfrm>
            <a:off x="10591920" y="2262600"/>
            <a:ext cx="7442640" cy="30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Freeform 4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635760" y="1028880"/>
            <a:ext cx="1718136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080"/>
              </a:lnSpc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Electrical Properties of Cell Membrane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6"/>
          <p:cNvSpPr/>
          <p:nvPr/>
        </p:nvSpPr>
        <p:spPr>
          <a:xfrm>
            <a:off x="152280" y="4608720"/>
            <a:ext cx="7659000" cy="21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4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Concept of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- Membrane Polarity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- Resting Membrane Potential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(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RMP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8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6" name="Group 9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177" name="Group 10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178" name="Freeform 11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9" name="TextBox 12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80" name="Picture 2" descr="Membrane potential - Labster"/>
          <p:cNvPicPr/>
          <p:nvPr/>
        </p:nvPicPr>
        <p:blipFill>
          <a:blip r:embed="rId6"/>
          <a:stretch/>
        </p:blipFill>
        <p:spPr>
          <a:xfrm>
            <a:off x="6248520" y="2607480"/>
            <a:ext cx="12037680" cy="664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Freeform 2"/>
          <p:cNvSpPr/>
          <p:nvPr/>
        </p:nvSpPr>
        <p:spPr>
          <a:xfrm rot="2700000">
            <a:off x="-3153600" y="-2361240"/>
            <a:ext cx="5141880" cy="5141880"/>
          </a:xfrm>
          <a:custGeom>
            <a:avLst/>
            <a:gdLst>
              <a:gd name="textAreaLeft" fmla="*/ 0 w 5141880"/>
              <a:gd name="textAreaRight" fmla="*/ 5143680 w 514188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2286000" y="656640"/>
            <a:ext cx="8820720" cy="11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Neuron Spikes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434520" y="1784520"/>
            <a:ext cx="10223280" cy="62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Neurons are essentially electrical devices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There are many channels sitting in the cell membrane (the boundary between a cell’s inside and outside) that allow positive or negative ions to flow into and out of the cell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Normally, the </a:t>
            </a: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inside of the cell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 is more</a:t>
            </a: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 negative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than the outside;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neuroscientists say that the inside is around -70 mV with respect to the outside, or that the cell’s resting membrane potential is -70 mV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Freeform 15"/>
          <p:cNvSpPr/>
          <p:nvPr/>
        </p:nvSpPr>
        <p:spPr>
          <a:xfrm flipH="1" rot="2700000">
            <a:off x="15440760" y="8408880"/>
            <a:ext cx="5142240" cy="5141880"/>
          </a:xfrm>
          <a:custGeom>
            <a:avLst/>
            <a:gdLst>
              <a:gd name="textAreaLeft" fmla="*/ 1080 w 5142240"/>
              <a:gd name="textAreaRight" fmla="*/ 5145120 w 514224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6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6" name="Group 17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187" name="Group 18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188" name="Freeform 19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9" name="TextBox 20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90" name=""/>
          <p:cNvPicPr/>
          <p:nvPr/>
        </p:nvPicPr>
        <p:blipFill>
          <a:blip r:embed="rId6"/>
          <a:srcRect l="0" t="0" r="51995" b="0"/>
          <a:stretch/>
        </p:blipFill>
        <p:spPr>
          <a:xfrm>
            <a:off x="11374200" y="1028520"/>
            <a:ext cx="4626000" cy="399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"/>
          <p:cNvPicPr/>
          <p:nvPr/>
        </p:nvPicPr>
        <p:blipFill>
          <a:blip r:embed="rId7"/>
          <a:srcRect l="48990" t="0" r="0" b="0"/>
          <a:stretch/>
        </p:blipFill>
        <p:spPr>
          <a:xfrm>
            <a:off x="10658880" y="5296320"/>
            <a:ext cx="5570280" cy="453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Freeform 25"/>
          <p:cNvSpPr/>
          <p:nvPr/>
        </p:nvSpPr>
        <p:spPr>
          <a:xfrm rot="2700000">
            <a:off x="-3153600" y="-2361240"/>
            <a:ext cx="5141880" cy="5141880"/>
          </a:xfrm>
          <a:custGeom>
            <a:avLst/>
            <a:gdLst>
              <a:gd name="textAreaLeft" fmla="*/ 0 w 5141880"/>
              <a:gd name="textAreaRight" fmla="*/ 5143680 w 514188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7"/>
          <p:cNvSpPr/>
          <p:nvPr/>
        </p:nvSpPr>
        <p:spPr>
          <a:xfrm>
            <a:off x="2286000" y="656640"/>
            <a:ext cx="8820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Neuron Spikes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8"/>
          <p:cNvSpPr/>
          <p:nvPr/>
        </p:nvSpPr>
        <p:spPr>
          <a:xfrm>
            <a:off x="434520" y="2286000"/>
            <a:ext cx="10223280" cy="54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This membrane potential isn’t static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It’s constantly going up and down, depending mostly on the inputs coming from the 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axons 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of other neurons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Some inputs make the neuron’s membrane potential become more positive (or less negative, e.g. from -70 mV to -65 mV), and others do the opposite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These are respectively termed excitatory and inhibitory inputs, as they promote or inhibit the generation of action potentials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Freeform 26"/>
          <p:cNvSpPr/>
          <p:nvPr/>
        </p:nvSpPr>
        <p:spPr>
          <a:xfrm flipH="1" rot="2700000">
            <a:off x="15440760" y="8408880"/>
            <a:ext cx="5142240" cy="5141880"/>
          </a:xfrm>
          <a:custGeom>
            <a:avLst/>
            <a:gdLst>
              <a:gd name="textAreaLeft" fmla="*/ 1080 w 5142240"/>
              <a:gd name="textAreaRight" fmla="*/ 5145120 w 514224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0"/>
          <p:cNvSpPr/>
          <p:nvPr/>
        </p:nvSpPr>
        <p:spPr>
          <a:xfrm>
            <a:off x="9584280" y="591840"/>
            <a:ext cx="767304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7" name="Group 13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198" name="Group 15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199" name="Freeform 27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0" name="TextBox 31"/>
            <p:cNvSpPr/>
            <p:nvPr/>
          </p:nvSpPr>
          <p:spPr>
            <a:xfrm>
              <a:off x="17025120" y="8913600"/>
              <a:ext cx="792000" cy="16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01" name=""/>
          <p:cNvPicPr/>
          <p:nvPr/>
        </p:nvPicPr>
        <p:blipFill>
          <a:blip r:embed="rId6"/>
          <a:srcRect l="0" t="0" r="51995" b="0"/>
          <a:stretch/>
        </p:blipFill>
        <p:spPr>
          <a:xfrm>
            <a:off x="11374200" y="1028520"/>
            <a:ext cx="4626000" cy="399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"/>
          <p:cNvPicPr/>
          <p:nvPr/>
        </p:nvPicPr>
        <p:blipFill>
          <a:blip r:embed="rId7"/>
          <a:srcRect l="48990" t="0" r="0" b="0"/>
          <a:stretch/>
        </p:blipFill>
        <p:spPr>
          <a:xfrm>
            <a:off x="10658880" y="5296320"/>
            <a:ext cx="5570280" cy="453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Freeform 29"/>
          <p:cNvSpPr/>
          <p:nvPr/>
        </p:nvSpPr>
        <p:spPr>
          <a:xfrm rot="2700000">
            <a:off x="-3153600" y="-2361240"/>
            <a:ext cx="5141880" cy="5141880"/>
          </a:xfrm>
          <a:custGeom>
            <a:avLst/>
            <a:gdLst>
              <a:gd name="textAreaLeft" fmla="*/ 0 w 5141880"/>
              <a:gd name="textAreaRight" fmla="*/ 5143680 w 514188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32"/>
          <p:cNvSpPr/>
          <p:nvPr/>
        </p:nvSpPr>
        <p:spPr>
          <a:xfrm>
            <a:off x="2286000" y="656640"/>
            <a:ext cx="8820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Neuron Spikes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33"/>
          <p:cNvSpPr/>
          <p:nvPr/>
        </p:nvSpPr>
        <p:spPr>
          <a:xfrm>
            <a:off x="434520" y="2286000"/>
            <a:ext cx="10223280" cy="49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APs are the fundamental units of communication between neurons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occur when the sum total of all of the excitatory and inhibitory inputs makes the neuron’s membrane potential reach around -50 mV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a value called</a:t>
            </a: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the action potential</a:t>
            </a: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 Threshold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 MT"/>
              </a:rPr>
              <a:t>Neuroscientists often refer to action potentials as ‘spikes’, or say a neuron has ‘fired a spike’ or ‘spiked’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Freeform 30"/>
          <p:cNvSpPr/>
          <p:nvPr/>
        </p:nvSpPr>
        <p:spPr>
          <a:xfrm flipH="1" rot="2700000">
            <a:off x="15440760" y="8408880"/>
            <a:ext cx="5142240" cy="5141880"/>
          </a:xfrm>
          <a:custGeom>
            <a:avLst/>
            <a:gdLst>
              <a:gd name="textAreaLeft" fmla="*/ 1080 w 5142240"/>
              <a:gd name="textAreaRight" fmla="*/ 5145120 w 514224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34"/>
          <p:cNvSpPr/>
          <p:nvPr/>
        </p:nvSpPr>
        <p:spPr>
          <a:xfrm>
            <a:off x="9584280" y="591840"/>
            <a:ext cx="767304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8" name="Group 16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209" name="Group 19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210" name="Freeform 31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1" name="TextBox 35"/>
            <p:cNvSpPr/>
            <p:nvPr/>
          </p:nvSpPr>
          <p:spPr>
            <a:xfrm>
              <a:off x="17025120" y="8913600"/>
              <a:ext cx="792000" cy="16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12" name=""/>
          <p:cNvPicPr/>
          <p:nvPr/>
        </p:nvPicPr>
        <p:blipFill>
          <a:blip r:embed="rId6"/>
          <a:srcRect l="0" t="0" r="51995" b="0"/>
          <a:stretch/>
        </p:blipFill>
        <p:spPr>
          <a:xfrm>
            <a:off x="11374200" y="1028520"/>
            <a:ext cx="4626000" cy="399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"/>
          <p:cNvPicPr/>
          <p:nvPr/>
        </p:nvPicPr>
        <p:blipFill>
          <a:blip r:embed="rId7"/>
          <a:srcRect l="48990" t="0" r="0" b="0"/>
          <a:stretch/>
        </p:blipFill>
        <p:spPr>
          <a:xfrm>
            <a:off x="10658880" y="5296320"/>
            <a:ext cx="5570280" cy="453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Freeform 1"/>
          <p:cNvSpPr/>
          <p:nvPr/>
        </p:nvSpPr>
        <p:spPr>
          <a:xfrm rot="2700000">
            <a:off x="-3153600" y="-2361240"/>
            <a:ext cx="5141880" cy="5141880"/>
          </a:xfrm>
          <a:custGeom>
            <a:avLst/>
            <a:gdLst>
              <a:gd name="textAreaLeft" fmla="*/ 0 w 5141880"/>
              <a:gd name="textAreaRight" fmla="*/ 5143680 w 514188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"/>
          <p:cNvSpPr/>
          <p:nvPr/>
        </p:nvSpPr>
        <p:spPr>
          <a:xfrm>
            <a:off x="2286000" y="656640"/>
            <a:ext cx="8820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Neuron Spikes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7"/>
          <p:cNvSpPr/>
          <p:nvPr/>
        </p:nvSpPr>
        <p:spPr>
          <a:xfrm>
            <a:off x="434520" y="1784520"/>
            <a:ext cx="8643960" cy="35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 defTabSz="914400">
              <a:lnSpc>
                <a:spcPts val="4048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Spikes show rapid changes in polarity of membrane potentials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All vital information is coded within the firing pattern and frequency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Spikes patterns are fundamental to coding in the brain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48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Freeform 20"/>
          <p:cNvSpPr/>
          <p:nvPr/>
        </p:nvSpPr>
        <p:spPr>
          <a:xfrm flipH="1" rot="2700000">
            <a:off x="15440760" y="8408880"/>
            <a:ext cx="5142240" cy="5141880"/>
          </a:xfrm>
          <a:custGeom>
            <a:avLst/>
            <a:gdLst>
              <a:gd name="textAreaLeft" fmla="*/ 1080 w 5142240"/>
              <a:gd name="textAreaRight" fmla="*/ 5145120 w 514224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1"/>
          <p:cNvSpPr/>
          <p:nvPr/>
        </p:nvSpPr>
        <p:spPr>
          <a:xfrm>
            <a:off x="9584280" y="591840"/>
            <a:ext cx="767304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9" name="Group 1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220" name="Group 3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221" name="Freeform 23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2" name="TextBox 24"/>
            <p:cNvSpPr/>
            <p:nvPr/>
          </p:nvSpPr>
          <p:spPr>
            <a:xfrm>
              <a:off x="17025120" y="8913600"/>
              <a:ext cx="792000" cy="16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23" name="Picture 1" descr="Action Potentials – Human Physiology"/>
          <p:cNvPicPr/>
          <p:nvPr/>
        </p:nvPicPr>
        <p:blipFill>
          <a:blip r:embed="rId6"/>
          <a:srcRect l="12827" t="0" r="9903" b="45811"/>
          <a:stretch/>
        </p:blipFill>
        <p:spPr>
          <a:xfrm>
            <a:off x="9207720" y="1620360"/>
            <a:ext cx="8820720" cy="704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Box 26"/>
          <p:cNvSpPr/>
          <p:nvPr/>
        </p:nvSpPr>
        <p:spPr>
          <a:xfrm>
            <a:off x="402840" y="6742800"/>
            <a:ext cx="6615720" cy="24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0800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Phases of Action Potential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23480" lvl="1" indent="-7430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Resting Membrane Potential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23480" lvl="1" indent="-7430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Depolarization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23480" lvl="1" indent="-7430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 Repolarization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23480" lvl="1" indent="-7430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Hyperpolarization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Freeform 2"/>
          <p:cNvSpPr/>
          <p:nvPr/>
        </p:nvSpPr>
        <p:spPr>
          <a:xfrm rot="2700000">
            <a:off x="-3153600" y="-2361240"/>
            <a:ext cx="5141880" cy="5141880"/>
          </a:xfrm>
          <a:custGeom>
            <a:avLst/>
            <a:gdLst>
              <a:gd name="textAreaLeft" fmla="*/ 0 w 5141880"/>
              <a:gd name="textAreaRight" fmla="*/ 5143680 w 514188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3"/>
          <p:cNvSpPr/>
          <p:nvPr/>
        </p:nvSpPr>
        <p:spPr>
          <a:xfrm>
            <a:off x="2286000" y="492480"/>
            <a:ext cx="8820720" cy="11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Neuron Spikes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4"/>
          <p:cNvSpPr/>
          <p:nvPr/>
        </p:nvSpPr>
        <p:spPr>
          <a:xfrm>
            <a:off x="434520" y="1784520"/>
            <a:ext cx="8643960" cy="40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 defTabSz="914400">
              <a:lnSpc>
                <a:spcPts val="4048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Action Potential threshold must be reached for a spike to be recorded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Voltage gated channels underlie spikes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There are leaky channels within the membrane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Each neuron will have a ,maximum firing frequency (refractory Period)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4048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All electrical properties of the neuron are subject to change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Freeform 15"/>
          <p:cNvSpPr/>
          <p:nvPr/>
        </p:nvSpPr>
        <p:spPr>
          <a:xfrm flipH="1" rot="2700000">
            <a:off x="15440760" y="8408880"/>
            <a:ext cx="5142240" cy="5141880"/>
          </a:xfrm>
          <a:custGeom>
            <a:avLst/>
            <a:gdLst>
              <a:gd name="textAreaLeft" fmla="*/ 1080 w 5142240"/>
              <a:gd name="textAreaRight" fmla="*/ 5145120 w 514224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6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0" name="Group 17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231" name="Group 18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232" name="Freeform 19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3" name="TextBox 20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4" name="Picture 2" descr="Action Potentials – Human Physiology"/>
          <p:cNvPicPr/>
          <p:nvPr/>
        </p:nvPicPr>
        <p:blipFill>
          <a:blip r:embed="rId6"/>
          <a:srcRect l="12827" t="0" r="9903" b="45811"/>
          <a:stretch/>
        </p:blipFill>
        <p:spPr>
          <a:xfrm>
            <a:off x="9207720" y="1620360"/>
            <a:ext cx="8820720" cy="704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Box 4"/>
          <p:cNvSpPr/>
          <p:nvPr/>
        </p:nvSpPr>
        <p:spPr>
          <a:xfrm>
            <a:off x="402840" y="6742800"/>
            <a:ext cx="6615720" cy="24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0800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Phases of Action Potential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23480" lvl="1" indent="-7430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Resting Membrane Potential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23480" lvl="1" indent="-7430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Depolarization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23480" lvl="1" indent="-7430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Repolarization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23480" lvl="1" indent="-74304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Hyperpolarization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Freeform 2"/>
          <p:cNvSpPr/>
          <p:nvPr/>
        </p:nvSpPr>
        <p:spPr>
          <a:xfrm rot="2700000">
            <a:off x="-3153600" y="-2361240"/>
            <a:ext cx="5141880" cy="5141880"/>
          </a:xfrm>
          <a:custGeom>
            <a:avLst/>
            <a:gdLst>
              <a:gd name="textAreaLeft" fmla="*/ 0 w 5141880"/>
              <a:gd name="textAreaRight" fmla="*/ 5143680 w 514188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3"/>
          <p:cNvSpPr/>
          <p:nvPr/>
        </p:nvSpPr>
        <p:spPr>
          <a:xfrm>
            <a:off x="2150640" y="723240"/>
            <a:ext cx="8820720" cy="11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Spikes/Action Potential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Freeform 15"/>
          <p:cNvSpPr/>
          <p:nvPr/>
        </p:nvSpPr>
        <p:spPr>
          <a:xfrm flipH="1" rot="2700000">
            <a:off x="15440760" y="8408880"/>
            <a:ext cx="5142240" cy="5141880"/>
          </a:xfrm>
          <a:custGeom>
            <a:avLst/>
            <a:gdLst>
              <a:gd name="textAreaLeft" fmla="*/ 1080 w 5142240"/>
              <a:gd name="textAreaRight" fmla="*/ 5145120 w 514224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6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0" name="Group 17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241" name="Group 18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242" name="Freeform 19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3" name="TextBox 20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4" name="TextBox 4"/>
          <p:cNvSpPr/>
          <p:nvPr/>
        </p:nvSpPr>
        <p:spPr>
          <a:xfrm>
            <a:off x="892800" y="3216600"/>
            <a:ext cx="5636880" cy="64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0800" defTabSz="914400">
              <a:lnSpc>
                <a:spcPct val="100000"/>
              </a:lnSpc>
            </a:pPr>
            <a:r>
              <a:rPr lang="en-US" sz="3200" b="1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Resting Membrane Potential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0800"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Sodium/Potassium Pump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0800" defTabSz="914400">
              <a:lnSpc>
                <a:spcPct val="100000"/>
              </a:lnSpc>
            </a:pP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-Potassium Leaky Channels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0800" defTabSz="914400">
              <a:lnSpc>
                <a:spcPct val="100000"/>
              </a:lnSpc>
            </a:pPr>
            <a:r>
              <a:rPr lang="en-US" sz="3200" b="1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Depolarization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2120" lvl="1" indent="-57168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Voltage-gated Sodium channels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0800" defTabSz="914400">
              <a:lnSpc>
                <a:spcPct val="100000"/>
              </a:lnSpc>
            </a:pPr>
            <a:r>
              <a:rPr lang="en-US" sz="3200" b="1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Repolarization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0800"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 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Voltage-gated Potassium channels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0800" defTabSz="914400">
              <a:lnSpc>
                <a:spcPct val="100000"/>
              </a:lnSpc>
            </a:pPr>
            <a:r>
              <a:rPr lang="en-US" sz="3200" b="1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4. Hyperpolarization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0800"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 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Voltage-gated Potassium channels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4" descr="Neuroscience For Kids - action potential"/>
          <p:cNvPicPr/>
          <p:nvPr/>
        </p:nvPicPr>
        <p:blipFill>
          <a:blip r:embed="rId6"/>
          <a:stretch/>
        </p:blipFill>
        <p:spPr>
          <a:xfrm>
            <a:off x="7260840" y="1971360"/>
            <a:ext cx="10263240" cy="721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Box 4"/>
          <p:cNvSpPr/>
          <p:nvPr/>
        </p:nvSpPr>
        <p:spPr>
          <a:xfrm>
            <a:off x="892800" y="1851120"/>
            <a:ext cx="5277600" cy="97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04720" indent="-486720" defTabSz="914400">
              <a:lnSpc>
                <a:spcPct val="101000"/>
              </a:lnSpc>
              <a:buClr>
                <a:srgbClr val="58afb8"/>
              </a:buClr>
              <a:buSzPct val="61000"/>
              <a:buFont typeface="Wingdings" charset="2"/>
              <a:buChar char=""/>
              <a:tabLst>
                <a:tab algn="l" pos="50472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Channels involved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720" indent="-486720" defTabSz="914400">
              <a:lnSpc>
                <a:spcPct val="101000"/>
              </a:lnSpc>
              <a:buClr>
                <a:srgbClr val="58afb8"/>
              </a:buClr>
              <a:buSzPct val="61000"/>
              <a:buFont typeface="Wingdings" charset="2"/>
              <a:buChar char=""/>
              <a:tabLst>
                <a:tab algn="l" pos="50472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Ionic movement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Freeform 3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Freeform 4"/>
          <p:cNvSpPr/>
          <p:nvPr/>
        </p:nvSpPr>
        <p:spPr>
          <a:xfrm>
            <a:off x="9351360" y="2327040"/>
            <a:ext cx="8128440" cy="6324480"/>
          </a:xfrm>
          <a:custGeom>
            <a:avLst/>
            <a:gdLst>
              <a:gd name="textAreaLeft" fmla="*/ 0 w 8128440"/>
              <a:gd name="textAreaRight" fmla="*/ 8130240 w 8128440"/>
              <a:gd name="textAreaTop" fmla="*/ 0 h 6324480"/>
              <a:gd name="textAreaBottom" fmla="*/ 6326280 h 6324480"/>
            </a:gdLst>
            <a:ahLst/>
            <a:cxnLst/>
            <a:rect l="textAreaLeft" t="textAreaTop" r="textAreaRight" b="textAreaBottom"/>
            <a:pathLst>
              <a:path w="8130139" h="6326338">
                <a:moveTo>
                  <a:pt x="0" y="0"/>
                </a:moveTo>
                <a:lnTo>
                  <a:pt x="8130139" y="0"/>
                </a:lnTo>
                <a:lnTo>
                  <a:pt x="8130139" y="6326338"/>
                </a:lnTo>
                <a:lnTo>
                  <a:pt x="0" y="63263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5"/>
          <p:cNvSpPr/>
          <p:nvPr/>
        </p:nvSpPr>
        <p:spPr>
          <a:xfrm>
            <a:off x="1028880" y="3759120"/>
            <a:ext cx="8113680" cy="48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4"/>
              </a:lnSpc>
            </a:pPr>
            <a:r>
              <a:rPr lang="en-US" sz="289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Neurological disorders are conditions that affect the nervous system, including the brain, spinal cord, and nerves, causing issues with movement, communication, cognition, and other bodily functions. </a:t>
            </a: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  <a:tabLst>
                <a:tab algn="l" pos="0"/>
              </a:tabLst>
            </a:pPr>
            <a:r>
              <a:rPr lang="en-US" sz="289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Diagnosis requires medical evaluation, and persistent or severe symptoms warrant immediate medical attention. </a:t>
            </a: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6"/>
          <p:cNvSpPr/>
          <p:nvPr/>
        </p:nvSpPr>
        <p:spPr>
          <a:xfrm>
            <a:off x="1571760" y="660240"/>
            <a:ext cx="8553960" cy="95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2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Refractory Period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2" name="Group 7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253" name="Group 8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254" name="Freeform 9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6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5" name="TextBox 10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6" name="TextBox 11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Content Placeholder 4"/>
          <p:cNvPicPr/>
          <p:nvPr/>
        </p:nvPicPr>
        <p:blipFill>
          <a:blip r:embed="rId7"/>
          <a:srcRect l="0" t="3202" r="0" b="0"/>
          <a:stretch/>
        </p:blipFill>
        <p:spPr>
          <a:xfrm>
            <a:off x="349920" y="1615320"/>
            <a:ext cx="17129880" cy="838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Freeform 2"/>
          <p:cNvSpPr/>
          <p:nvPr/>
        </p:nvSpPr>
        <p:spPr>
          <a:xfrm>
            <a:off x="0" y="7182360"/>
            <a:ext cx="7326720" cy="3102840"/>
          </a:xfrm>
          <a:custGeom>
            <a:avLst/>
            <a:gdLst>
              <a:gd name="textAreaLeft" fmla="*/ 0 w 7326720"/>
              <a:gd name="textAreaRight" fmla="*/ 7328520 w 7326720"/>
              <a:gd name="textAreaTop" fmla="*/ 0 h 3102840"/>
              <a:gd name="textAreaBottom" fmla="*/ 3104640 h 3102840"/>
            </a:gdLst>
            <a:ahLst/>
            <a:cxnLst/>
            <a:rect l="textAreaLeft" t="textAreaTop" r="textAreaRight" b="textAreaBottom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4"/>
          <p:cNvSpPr/>
          <p:nvPr/>
        </p:nvSpPr>
        <p:spPr>
          <a:xfrm>
            <a:off x="212040" y="797760"/>
            <a:ext cx="1395936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08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What can Spikes tell us?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6"/>
          <p:cNvSpPr/>
          <p:nvPr/>
        </p:nvSpPr>
        <p:spPr>
          <a:xfrm>
            <a:off x="2176920" y="7344360"/>
            <a:ext cx="499392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22"/>
              </a:lnSpc>
              <a:tabLst>
                <a:tab algn="l" pos="0"/>
              </a:tabLst>
            </a:pPr>
            <a:r>
              <a:rPr lang="en-US" sz="175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A typical nerve cell or neuron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1" name="Group 7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262" name="Group 8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263" name="Freeform 9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3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64" name="TextBox 10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TextBox 11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Picture 2" descr="Fig. 1: Biomimetic neuromorphic computing."/>
          <p:cNvPicPr/>
          <p:nvPr/>
        </p:nvPicPr>
        <p:blipFill>
          <a:blip r:embed="rId4"/>
          <a:srcRect l="0" t="4076" r="0" b="49968"/>
          <a:stretch/>
        </p:blipFill>
        <p:spPr>
          <a:xfrm>
            <a:off x="212040" y="2237760"/>
            <a:ext cx="11557800" cy="667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Box 5"/>
          <p:cNvSpPr/>
          <p:nvPr/>
        </p:nvSpPr>
        <p:spPr>
          <a:xfrm>
            <a:off x="11406600" y="3084840"/>
            <a:ext cx="7033680" cy="44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561240" lvl="1" indent="-280800" defTabSz="914400">
              <a:lnSpc>
                <a:spcPts val="4419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We can relate Spiking activity to external stimuli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1240" lvl="1" indent="-280800" defTabSz="914400">
              <a:lnSpc>
                <a:spcPts val="4419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The function of the neuron in health and disease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1240" lvl="1" indent="-280800" defTabSz="914400">
              <a:lnSpc>
                <a:spcPts val="4419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How plastic the neuron/network is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1240" lvl="1" indent="-280800" defTabSz="914400">
              <a:lnSpc>
                <a:spcPts val="4419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The effect of drugs on the neuron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1240" lvl="1" indent="-280800" defTabSz="914400">
              <a:lnSpc>
                <a:spcPts val="4419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The effect of neuronal manipulations on its properties and activity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1"/>
          <p:cNvSpPr/>
          <p:nvPr/>
        </p:nvSpPr>
        <p:spPr>
          <a:xfrm>
            <a:off x="7192440" y="9257040"/>
            <a:ext cx="842652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Subbulakshmi Radhakrishnan et.,al 2021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5"/>
              </a:rPr>
              <a:t>https://doi.org/10.1038/s41467-021-22332-8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Freeform 3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5"/>
          <p:cNvSpPr/>
          <p:nvPr/>
        </p:nvSpPr>
        <p:spPr>
          <a:xfrm>
            <a:off x="740880" y="1945080"/>
            <a:ext cx="9544320" cy="66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indent="-457200" defTabSz="914400">
              <a:lnSpc>
                <a:spcPts val="4334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Learning is when the brain takes in new information—from any sensory modality—and either stores it or represents it in a way that modulates future activities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includes a broad range of tasks like motor training, object recognition, and explicit memory formation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Clearly, this is happening all the time in humans and is arguably the substance of intelligence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buClr>
                <a:srgbClr val="37352f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I've asked a lot of people how learning works and nearly every time the response is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Times New Roman MT"/>
              </a:rPr>
              <a:t>Synaptic Plasticity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6"/>
          <p:cNvSpPr/>
          <p:nvPr/>
        </p:nvSpPr>
        <p:spPr>
          <a:xfrm>
            <a:off x="1571760" y="676800"/>
            <a:ext cx="8389080" cy="96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Learning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3" name="Group 7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274" name="Group 8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275" name="Freeform 9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76" name="TextBox 10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7" name="TextBox 11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Picture 4" descr="Brain-Based Learning | 10 Techniques to ..."/>
          <p:cNvPicPr/>
          <p:nvPr/>
        </p:nvPicPr>
        <p:blipFill>
          <a:blip r:embed="rId6"/>
          <a:srcRect l="23525" t="0" r="20921" b="0"/>
          <a:stretch/>
        </p:blipFill>
        <p:spPr>
          <a:xfrm>
            <a:off x="10667880" y="2019240"/>
            <a:ext cx="6681600" cy="624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Freeform 3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5"/>
          <p:cNvSpPr/>
          <p:nvPr/>
        </p:nvSpPr>
        <p:spPr>
          <a:xfrm>
            <a:off x="740880" y="1945080"/>
            <a:ext cx="9544320" cy="68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Plasticity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is the ability of the brain to change and adapt to new information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Synaptic plasticity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is change that occurs at synapses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idea that synapses could change, and that this change depended on how active or inactive they were, was first proposed in the </a:t>
            </a:r>
            <a:r>
              <a:rPr lang="en-US" sz="3200" b="0" u="sng" strike="noStrike">
                <a:solidFill>
                  <a:schemeClr val="dk1"/>
                </a:solidFill>
                <a:effectLst/>
                <a:uFillTx/>
                <a:latin typeface="Calibri"/>
              </a:rPr>
              <a:t>1949 by Canadian psychologist Donald Hebb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Two proceses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Long-Term Potentiation (LTP)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Long-term Depression (LTD)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6"/>
          <p:cNvSpPr/>
          <p:nvPr/>
        </p:nvSpPr>
        <p:spPr>
          <a:xfrm>
            <a:off x="1571760" y="676800"/>
            <a:ext cx="8389080" cy="96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Synaptic Plasticity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3" name="Group 7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284" name="Group 8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285" name="Freeform 9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TextBox 10"/>
            <p:cNvSpPr/>
            <p:nvPr/>
          </p:nvSpPr>
          <p:spPr>
            <a:xfrm>
              <a:off x="17025120" y="891360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7" name="TextBox 11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8" name=""/>
          <p:cNvPicPr/>
          <p:nvPr/>
        </p:nvPicPr>
        <p:blipFill>
          <a:blip r:embed="rId6"/>
          <a:stretch/>
        </p:blipFill>
        <p:spPr>
          <a:xfrm>
            <a:off x="10032480" y="734760"/>
            <a:ext cx="7619760" cy="872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"/>
          <p:cNvSpPr txBox="1"/>
          <p:nvPr/>
        </p:nvSpPr>
        <p:spPr>
          <a:xfrm>
            <a:off x="11658600" y="8915400"/>
            <a:ext cx="482544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400" b="1" u="none" strike="noStrike">
                <a:solidFill>
                  <a:srgbClr val="362413"/>
                </a:solidFill>
                <a:effectLst/>
                <a:uFillTx/>
                <a:latin typeface="Arial"/>
              </a:rPr>
              <a:t>Hebbian Principle: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cells that fire together wire together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Freeform 3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Freeform 33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6"/>
          <p:cNvSpPr/>
          <p:nvPr/>
        </p:nvSpPr>
        <p:spPr>
          <a:xfrm>
            <a:off x="228600" y="2057400"/>
            <a:ext cx="9544320" cy="60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LTP: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persistent strengthening of a synaptic connection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Hebbian principle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Synaptic plasticity can change either: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1)  the amount of neurotransmitter released or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2) the number of postsynaptic receptors available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resulting in changes in synaptic strength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Both have the effect of altering how much electrical current flows through the ion channels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37"/>
          <p:cNvSpPr/>
          <p:nvPr/>
        </p:nvSpPr>
        <p:spPr>
          <a:xfrm>
            <a:off x="1571760" y="1001160"/>
            <a:ext cx="1031544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0"/>
              </a:lnSpc>
              <a:tabLst>
                <a:tab algn="l" pos="0"/>
              </a:tabLst>
            </a:pPr>
            <a:r>
              <a:rPr lang="en-US" sz="66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Long-Term Potentiation(LTP)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4" name="Group 22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295" name="Group 24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296" name="Freeform 34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7" name="TextBox 38"/>
            <p:cNvSpPr/>
            <p:nvPr/>
          </p:nvSpPr>
          <p:spPr>
            <a:xfrm>
              <a:off x="17025120" y="8913600"/>
              <a:ext cx="792000" cy="16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8" name="TextBox 39"/>
          <p:cNvSpPr/>
          <p:nvPr/>
        </p:nvSpPr>
        <p:spPr>
          <a:xfrm>
            <a:off x="9584280" y="591840"/>
            <a:ext cx="76730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"/>
          <p:cNvPicPr/>
          <p:nvPr/>
        </p:nvPicPr>
        <p:blipFill>
          <a:blip r:embed="rId6"/>
          <a:stretch/>
        </p:blipFill>
        <p:spPr>
          <a:xfrm rot="18000">
            <a:off x="9570240" y="2536560"/>
            <a:ext cx="8473320" cy="58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"/>
          <p:cNvSpPr txBox="1"/>
          <p:nvPr/>
        </p:nvSpPr>
        <p:spPr>
          <a:xfrm>
            <a:off x="13030200" y="8915400"/>
            <a:ext cx="2971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Image: Alan Woodruff / QBI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Freeform 35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Freeform 36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40"/>
          <p:cNvSpPr/>
          <p:nvPr/>
        </p:nvSpPr>
        <p:spPr>
          <a:xfrm>
            <a:off x="285480" y="1909440"/>
            <a:ext cx="9544320" cy="46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LDP: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persistent weakening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of a synaptic connection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essentially the reverse of LTP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-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EPSP: Excitatoty Post-Synaptic Potential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ts val="4334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41"/>
          <p:cNvSpPr/>
          <p:nvPr/>
        </p:nvSpPr>
        <p:spPr>
          <a:xfrm>
            <a:off x="1371600" y="914040"/>
            <a:ext cx="1005840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00"/>
              </a:lnSpc>
              <a:tabLst>
                <a:tab algn="l" pos="0"/>
              </a:tabLst>
            </a:pPr>
            <a:r>
              <a:rPr lang="en-US" sz="66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Long-Term Depression (LTD)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5" name="Group 25"/>
          <p:cNvGrpSpPr/>
          <p:nvPr/>
        </p:nvGrpSpPr>
        <p:grpSpPr>
          <a:xfrm>
            <a:off x="16979400" y="8913600"/>
            <a:ext cx="883440" cy="1087920"/>
            <a:chOff x="16979400" y="8913600"/>
            <a:chExt cx="883440" cy="1087920"/>
          </a:xfrm>
        </p:grpSpPr>
        <p:grpSp>
          <p:nvGrpSpPr>
            <p:cNvPr id="306" name="Group 28"/>
            <p:cNvGrpSpPr/>
            <p:nvPr/>
          </p:nvGrpSpPr>
          <p:grpSpPr>
            <a:xfrm>
              <a:off x="16979400" y="9118080"/>
              <a:ext cx="883440" cy="883440"/>
              <a:chOff x="16979400" y="9118080"/>
              <a:chExt cx="883440" cy="883440"/>
            </a:xfrm>
          </p:grpSpPr>
          <p:sp>
            <p:nvSpPr>
              <p:cNvPr id="307" name="Freeform 37"/>
              <p:cNvSpPr/>
              <p:nvPr/>
            </p:nvSpPr>
            <p:spPr>
              <a:xfrm>
                <a:off x="16979400" y="911808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08" name="TextBox 42"/>
            <p:cNvSpPr/>
            <p:nvPr/>
          </p:nvSpPr>
          <p:spPr>
            <a:xfrm>
              <a:off x="17025120" y="8913600"/>
              <a:ext cx="792000" cy="16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9" name="TextBox 43"/>
          <p:cNvSpPr/>
          <p:nvPr/>
        </p:nvSpPr>
        <p:spPr>
          <a:xfrm>
            <a:off x="9584280" y="591840"/>
            <a:ext cx="76730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" name=""/>
          <p:cNvPicPr/>
          <p:nvPr/>
        </p:nvPicPr>
        <p:blipFill>
          <a:blip r:embed="rId6"/>
          <a:srcRect l="13748" t="0" r="15000" b="9097"/>
          <a:stretch/>
        </p:blipFill>
        <p:spPr>
          <a:xfrm>
            <a:off x="7209720" y="2403000"/>
            <a:ext cx="10849680" cy="7545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roup 2"/>
          <p:cNvGrpSpPr/>
          <p:nvPr/>
        </p:nvGrpSpPr>
        <p:grpSpPr>
          <a:xfrm>
            <a:off x="0" y="-361800"/>
            <a:ext cx="6330240" cy="10647000"/>
            <a:chOff x="0" y="-361800"/>
            <a:chExt cx="6330240" cy="10647000"/>
          </a:xfrm>
        </p:grpSpPr>
        <p:sp>
          <p:nvSpPr>
            <p:cNvPr id="312" name="Freeform 3"/>
            <p:cNvSpPr/>
            <p:nvPr/>
          </p:nvSpPr>
          <p:spPr>
            <a:xfrm>
              <a:off x="0" y="0"/>
              <a:ext cx="6330240" cy="10285200"/>
            </a:xfrm>
            <a:custGeom>
              <a:avLst/>
              <a:gdLst>
                <a:gd name="textAreaLeft" fmla="*/ 0 w 6330240"/>
                <a:gd name="textAreaRight" fmla="*/ 6332040 w 6330240"/>
                <a:gd name="textAreaTop" fmla="*/ 0 h 10285200"/>
                <a:gd name="textAreaBottom" fmla="*/ 10287000 h 10285200"/>
              </a:gdLst>
              <a:ahLst/>
              <a:cxnLst/>
              <a:rect l="textAreaLeft" t="textAreaTop" r="textAreaRight" b="textAreaBottom"/>
              <a:pathLst>
                <a:path w="1667662" h="2709333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2b30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TextBox 4"/>
            <p:cNvSpPr/>
            <p:nvPr/>
          </p:nvSpPr>
          <p:spPr>
            <a:xfrm>
              <a:off x="0" y="-361800"/>
              <a:ext cx="6330240" cy="1064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3359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314" name="Group 5"/>
          <p:cNvGrpSpPr/>
          <p:nvPr/>
        </p:nvGrpSpPr>
        <p:grpSpPr>
          <a:xfrm>
            <a:off x="1028880" y="4101120"/>
            <a:ext cx="8113680" cy="5486400"/>
            <a:chOff x="1028880" y="4101120"/>
            <a:chExt cx="8113680" cy="5486400"/>
          </a:xfrm>
        </p:grpSpPr>
        <p:pic>
          <p:nvPicPr>
            <p:cNvPr id="315" name="Picture 6"/>
            <p:cNvPicPr/>
            <p:nvPr/>
          </p:nvPicPr>
          <p:blipFill>
            <a:blip r:embed="rId1"/>
            <a:srcRect l="649" t="0" r="649" b="0"/>
            <a:stretch/>
          </p:blipFill>
          <p:spPr>
            <a:xfrm>
              <a:off x="1028880" y="4101120"/>
              <a:ext cx="8113680" cy="5486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16" name="Freeform 7"/>
          <p:cNvSpPr/>
          <p:nvPr/>
        </p:nvSpPr>
        <p:spPr>
          <a:xfrm flipV="1" rot="8100000">
            <a:off x="16357320" y="-2338200"/>
            <a:ext cx="5142240" cy="5141880"/>
          </a:xfrm>
          <a:custGeom>
            <a:avLst/>
            <a:gdLst>
              <a:gd name="textAreaLeft" fmla="*/ 0 w 5142240"/>
              <a:gd name="textAreaRight" fmla="*/ 5144040 w 5142240"/>
              <a:gd name="textAreaTop" fmla="*/ -1080 h 5141880"/>
              <a:gd name="textAreaBottom" fmla="*/ 514260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0" y="5143500"/>
                </a:moveTo>
                <a:lnTo>
                  <a:pt x="5143500" y="5143500"/>
                </a:lnTo>
                <a:lnTo>
                  <a:pt x="51435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8"/>
          <p:cNvSpPr/>
          <p:nvPr/>
        </p:nvSpPr>
        <p:spPr>
          <a:xfrm>
            <a:off x="1028880" y="1104840"/>
            <a:ext cx="5301360" cy="20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849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Cormorant Garamond Bold"/>
                <a:ea typeface="Cormorant Garamond Bold"/>
              </a:rPr>
              <a:t>Take-Home Message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9"/>
          <p:cNvSpPr/>
          <p:nvPr/>
        </p:nvSpPr>
        <p:spPr>
          <a:xfrm>
            <a:off x="9640080" y="2656080"/>
            <a:ext cx="7617600" cy="38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623880" lvl="1" indent="-312120" defTabSz="914400">
              <a:lnSpc>
                <a:spcPts val="4334"/>
              </a:lnSpc>
              <a:buClr>
                <a:srgbClr val="000000"/>
              </a:buClr>
              <a:buFont typeface="Arial"/>
              <a:buChar char="•"/>
            </a:pPr>
            <a:r>
              <a:rPr lang="en-US" sz="289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Neurons exhibit electrical changes that help us understand the working of the brain</a:t>
            </a: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23880" lvl="1" indent="-312120" defTabSz="914400">
              <a:lnSpc>
                <a:spcPts val="4334"/>
              </a:lnSpc>
              <a:buClr>
                <a:srgbClr val="000000"/>
              </a:buClr>
              <a:buFont typeface="Arial"/>
              <a:buChar char="•"/>
            </a:pPr>
            <a:r>
              <a:rPr lang="en-US" sz="289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Neuronal properties are plastic</a:t>
            </a: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r>
              <a:rPr lang="en-US" sz="289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Reminder:</a:t>
            </a: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34"/>
              </a:lnSpc>
            </a:pPr>
            <a:r>
              <a:rPr lang="en-US" sz="2890" b="0" u="none" strike="noStrike">
                <a:solidFill>
                  <a:srgbClr val="000000"/>
                </a:solidFill>
                <a:effectLst/>
                <a:uFillTx/>
                <a:latin typeface="Times New Roman MT"/>
                <a:ea typeface="Times New Roman MT"/>
              </a:rPr>
              <a:t>You’ll apply the concepts in this tutorial right after this...</a:t>
            </a:r>
            <a:endParaRPr lang="en-US" sz="2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0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0" name="Group 11"/>
          <p:cNvGrpSpPr/>
          <p:nvPr/>
        </p:nvGrpSpPr>
        <p:grpSpPr>
          <a:xfrm>
            <a:off x="16581600" y="8427240"/>
            <a:ext cx="1208520" cy="1407600"/>
            <a:chOff x="16581600" y="8427240"/>
            <a:chExt cx="1208520" cy="1407600"/>
          </a:xfrm>
        </p:grpSpPr>
        <p:grpSp>
          <p:nvGrpSpPr>
            <p:cNvPr id="321" name="Group 12"/>
            <p:cNvGrpSpPr/>
            <p:nvPr/>
          </p:nvGrpSpPr>
          <p:grpSpPr>
            <a:xfrm>
              <a:off x="16581600" y="8427240"/>
              <a:ext cx="1208520" cy="1208520"/>
              <a:chOff x="16581600" y="8427240"/>
              <a:chExt cx="1208520" cy="1208520"/>
            </a:xfrm>
          </p:grpSpPr>
          <p:sp>
            <p:nvSpPr>
              <p:cNvPr id="322" name="Freeform 13"/>
              <p:cNvSpPr/>
              <p:nvPr/>
            </p:nvSpPr>
            <p:spPr>
              <a:xfrm>
                <a:off x="16581600" y="8427240"/>
                <a:ext cx="1208520" cy="1208520"/>
              </a:xfrm>
              <a:custGeom>
                <a:avLst/>
                <a:gdLst>
                  <a:gd name="textAreaLeft" fmla="*/ 0 w 1208520"/>
                  <a:gd name="textAreaRight" fmla="*/ 1210320 w 1208520"/>
                  <a:gd name="textAreaTop" fmla="*/ 0 h 1208520"/>
                  <a:gd name="textAreaBottom" fmla="*/ 1210320 h 120852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4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3" name="TextBox 14"/>
            <p:cNvSpPr/>
            <p:nvPr/>
          </p:nvSpPr>
          <p:spPr>
            <a:xfrm>
              <a:off x="16643880" y="9431280"/>
              <a:ext cx="1083600" cy="40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814"/>
                </a:lnSpc>
              </a:pPr>
              <a:r>
                <a:rPr lang="en-US" sz="1560" b="1" u="none" spc="-40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5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Box 2"/>
          <p:cNvSpPr/>
          <p:nvPr/>
        </p:nvSpPr>
        <p:spPr>
          <a:xfrm>
            <a:off x="1028880" y="895320"/>
            <a:ext cx="1195776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08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To-Do’s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Freeform 3"/>
          <p:cNvSpPr/>
          <p:nvPr/>
        </p:nvSpPr>
        <p:spPr>
          <a:xfrm rot="2700000">
            <a:off x="-3153600" y="-2361240"/>
            <a:ext cx="5141880" cy="5141880"/>
          </a:xfrm>
          <a:custGeom>
            <a:avLst/>
            <a:gdLst>
              <a:gd name="textAreaLeft" fmla="*/ 0 w 5141880"/>
              <a:gd name="textAreaRight" fmla="*/ 5143680 w 514188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Freeform 4"/>
          <p:cNvSpPr/>
          <p:nvPr/>
        </p:nvSpPr>
        <p:spPr>
          <a:xfrm flipH="1" rot="2700000">
            <a:off x="15440760" y="8408880"/>
            <a:ext cx="5142240" cy="5141880"/>
          </a:xfrm>
          <a:custGeom>
            <a:avLst/>
            <a:gdLst>
              <a:gd name="textAreaLeft" fmla="*/ 1080 w 5142240"/>
              <a:gd name="textAreaRight" fmla="*/ 5145120 w 5142240"/>
              <a:gd name="textAreaTop" fmla="*/ 0 h 5141880"/>
              <a:gd name="textAreaBottom" fmla="*/ 5143680 h 5141880"/>
            </a:gdLst>
            <a:ahLst/>
            <a:cxnLst/>
            <a:rect l="textAreaLeft" t="textAreaTop" r="textAreaRight" b="textAreaBottom"/>
            <a:pathLst>
              <a:path w="5143500" h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7" name="Group 5"/>
          <p:cNvGrpSpPr/>
          <p:nvPr/>
        </p:nvGrpSpPr>
        <p:grpSpPr>
          <a:xfrm>
            <a:off x="5289120" y="2496240"/>
            <a:ext cx="12295080" cy="5739840"/>
            <a:chOff x="5289120" y="2496240"/>
            <a:chExt cx="12295080" cy="5739840"/>
          </a:xfrm>
        </p:grpSpPr>
        <p:grpSp>
          <p:nvGrpSpPr>
            <p:cNvPr id="328" name="Group 6"/>
            <p:cNvGrpSpPr/>
            <p:nvPr/>
          </p:nvGrpSpPr>
          <p:grpSpPr>
            <a:xfrm>
              <a:off x="5289120" y="2496240"/>
              <a:ext cx="12295080" cy="5739840"/>
              <a:chOff x="5289120" y="2496240"/>
              <a:chExt cx="12295080" cy="5739840"/>
            </a:xfrm>
          </p:grpSpPr>
          <p:sp>
            <p:nvSpPr>
              <p:cNvPr id="329" name="Freeform 7"/>
              <p:cNvSpPr/>
              <p:nvPr/>
            </p:nvSpPr>
            <p:spPr>
              <a:xfrm>
                <a:off x="5289120" y="2677320"/>
                <a:ext cx="12295080" cy="5558760"/>
              </a:xfrm>
              <a:custGeom>
                <a:avLst/>
                <a:gdLst>
                  <a:gd name="textAreaLeft" fmla="*/ 0 w 12295080"/>
                  <a:gd name="textAreaRight" fmla="*/ 12296880 w 12295080"/>
                  <a:gd name="textAreaTop" fmla="*/ 0 h 5558760"/>
                  <a:gd name="textAreaBottom" fmla="*/ 5560560 h 5558760"/>
                </a:gdLst>
                <a:ahLst/>
                <a:cxnLst/>
                <a:rect l="textAreaLeft" t="textAreaTop" r="textAreaRight" b="textAreaBottom"/>
                <a:pathLst>
                  <a:path w="3238665" h="1464513">
                    <a:moveTo>
                      <a:pt x="0" y="0"/>
                    </a:moveTo>
                    <a:lnTo>
                      <a:pt x="3238665" y="0"/>
                    </a:lnTo>
                    <a:lnTo>
                      <a:pt x="3238665" y="1464513"/>
                    </a:lnTo>
                    <a:lnTo>
                      <a:pt x="0" y="1464513"/>
                    </a:lnTo>
                    <a:close/>
                  </a:path>
                </a:pathLst>
              </a:custGeom>
              <a:solidFill>
                <a:srgbClr val="edede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TextBox 8"/>
              <p:cNvSpPr/>
              <p:nvPr/>
            </p:nvSpPr>
            <p:spPr>
              <a:xfrm>
                <a:off x="5289120" y="2496240"/>
                <a:ext cx="12295080" cy="5739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3013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331" name="TextBox 9"/>
            <p:cNvSpPr/>
            <p:nvPr/>
          </p:nvSpPr>
          <p:spPr>
            <a:xfrm>
              <a:off x="5651280" y="2962080"/>
              <a:ext cx="11571120" cy="220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623880" lvl="1" indent="-312120" defTabSz="914400">
                <a:lnSpc>
                  <a:spcPts val="4334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2890" b="0" u="none" strike="noStrike">
                  <a:solidFill>
                    <a:srgbClr val="000000"/>
                  </a:solidFill>
                  <a:effectLst/>
                  <a:uFillTx/>
                  <a:latin typeface="Times New Roman MT"/>
                  <a:ea typeface="Times New Roman MT"/>
                </a:rPr>
                <a:t>Review types of synapses: Electrical vs Chemical synapses</a:t>
              </a:r>
              <a:endParaRPr lang="en-US" sz="28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334"/>
                </a:lnSpc>
              </a:pPr>
              <a:endParaRPr lang="en-US" sz="28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623880" lvl="1" indent="-312120" defTabSz="914400">
                <a:lnSpc>
                  <a:spcPts val="4334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2890" b="0" u="none" strike="noStrike">
                  <a:solidFill>
                    <a:srgbClr val="000000"/>
                  </a:solidFill>
                  <a:effectLst/>
                  <a:uFillTx/>
                  <a:latin typeface="Times New Roman MT"/>
                  <a:ea typeface="Times New Roman MT"/>
                </a:rPr>
                <a:t>How the synapses function</a:t>
              </a:r>
              <a:endParaRPr lang="en-US" sz="28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334"/>
                </a:lnSpc>
              </a:pPr>
              <a:endParaRPr lang="en-US" sz="28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2" name="Group 10"/>
          <p:cNvGrpSpPr/>
          <p:nvPr/>
        </p:nvGrpSpPr>
        <p:grpSpPr>
          <a:xfrm>
            <a:off x="16581600" y="8427240"/>
            <a:ext cx="1208520" cy="1407600"/>
            <a:chOff x="16581600" y="8427240"/>
            <a:chExt cx="1208520" cy="1407600"/>
          </a:xfrm>
        </p:grpSpPr>
        <p:grpSp>
          <p:nvGrpSpPr>
            <p:cNvPr id="333" name="Group 11"/>
            <p:cNvGrpSpPr/>
            <p:nvPr/>
          </p:nvGrpSpPr>
          <p:grpSpPr>
            <a:xfrm>
              <a:off x="16581600" y="8427240"/>
              <a:ext cx="1208520" cy="1208520"/>
              <a:chOff x="16581600" y="8427240"/>
              <a:chExt cx="1208520" cy="1208520"/>
            </a:xfrm>
          </p:grpSpPr>
          <p:sp>
            <p:nvSpPr>
              <p:cNvPr id="334" name="Freeform 12"/>
              <p:cNvSpPr/>
              <p:nvPr/>
            </p:nvSpPr>
            <p:spPr>
              <a:xfrm>
                <a:off x="16581600" y="8427240"/>
                <a:ext cx="1208520" cy="1208520"/>
              </a:xfrm>
              <a:custGeom>
                <a:avLst/>
                <a:gdLst>
                  <a:gd name="textAreaLeft" fmla="*/ 0 w 1208520"/>
                  <a:gd name="textAreaRight" fmla="*/ 1210320 w 1208520"/>
                  <a:gd name="textAreaTop" fmla="*/ 0 h 1208520"/>
                  <a:gd name="textAreaBottom" fmla="*/ 1210320 h 120852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5" name="TextBox 13"/>
            <p:cNvSpPr/>
            <p:nvPr/>
          </p:nvSpPr>
          <p:spPr>
            <a:xfrm>
              <a:off x="16643880" y="9431280"/>
              <a:ext cx="1083600" cy="40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814"/>
                </a:lnSpc>
              </a:pPr>
              <a:r>
                <a:rPr lang="en-US" sz="1560" b="1" u="none" spc="-40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5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6" name="Freeform 14"/>
          <p:cNvSpPr/>
          <p:nvPr/>
        </p:nvSpPr>
        <p:spPr>
          <a:xfrm>
            <a:off x="833400" y="32324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5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Freeform 2"/>
          <p:cNvSpPr/>
          <p:nvPr/>
        </p:nvSpPr>
        <p:spPr>
          <a:xfrm>
            <a:off x="-29160" y="0"/>
            <a:ext cx="13064760" cy="10285200"/>
          </a:xfrm>
          <a:custGeom>
            <a:avLst/>
            <a:gdLst>
              <a:gd name="textAreaLeft" fmla="*/ 0 w 13064760"/>
              <a:gd name="textAreaRight" fmla="*/ 13066560 w 13064760"/>
              <a:gd name="textAreaTop" fmla="*/ 0 h 10285200"/>
              <a:gd name="textAreaBottom" fmla="*/ 10287000 h 10285200"/>
            </a:gdLst>
            <a:ahLst/>
            <a:cxnLst/>
            <a:rect l="textAreaLeft" t="textAreaTop" r="textAreaRight" b="textAreaBottom"/>
            <a:pathLst>
              <a:path w="13066628" h="10287000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3"/>
          <p:cNvSpPr/>
          <p:nvPr/>
        </p:nvSpPr>
        <p:spPr>
          <a:xfrm>
            <a:off x="9144000" y="5419800"/>
            <a:ext cx="7804440" cy="20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809"/>
              </a:lnSpc>
              <a:tabLst>
                <a:tab algn="l" pos="0"/>
              </a:tabLst>
            </a:pPr>
            <a:r>
              <a:rPr lang="en-US" sz="12000" b="1" i="1" u="none" strike="noStrike">
                <a:solidFill>
                  <a:srgbClr val="2d3880"/>
                </a:solidFill>
                <a:effectLst/>
                <a:uFillTx/>
                <a:latin typeface="Cormorant Garamond Bold Italics"/>
                <a:ea typeface="Cormorant Garamond Bold Italics"/>
              </a:rPr>
              <a:t>Q &amp;A Session</a:t>
            </a:r>
            <a:endParaRPr lang="en-US" sz="1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0" name="Group 4"/>
          <p:cNvGrpSpPr/>
          <p:nvPr/>
        </p:nvGrpSpPr>
        <p:grpSpPr>
          <a:xfrm>
            <a:off x="16581600" y="8427240"/>
            <a:ext cx="1208520" cy="1407600"/>
            <a:chOff x="16581600" y="8427240"/>
            <a:chExt cx="1208520" cy="1407600"/>
          </a:xfrm>
        </p:grpSpPr>
        <p:grpSp>
          <p:nvGrpSpPr>
            <p:cNvPr id="341" name="Group 5"/>
            <p:cNvGrpSpPr/>
            <p:nvPr/>
          </p:nvGrpSpPr>
          <p:grpSpPr>
            <a:xfrm>
              <a:off x="16581600" y="8427240"/>
              <a:ext cx="1208520" cy="1208520"/>
              <a:chOff x="16581600" y="8427240"/>
              <a:chExt cx="1208520" cy="1208520"/>
            </a:xfrm>
          </p:grpSpPr>
          <p:sp>
            <p:nvSpPr>
              <p:cNvPr id="342" name="Freeform 6"/>
              <p:cNvSpPr/>
              <p:nvPr/>
            </p:nvSpPr>
            <p:spPr>
              <a:xfrm>
                <a:off x="16581600" y="8427240"/>
                <a:ext cx="1208520" cy="1208520"/>
              </a:xfrm>
              <a:custGeom>
                <a:avLst/>
                <a:gdLst>
                  <a:gd name="textAreaLeft" fmla="*/ 0 w 1208520"/>
                  <a:gd name="textAreaRight" fmla="*/ 1210320 w 1208520"/>
                  <a:gd name="textAreaTop" fmla="*/ 0 h 1208520"/>
                  <a:gd name="textAreaBottom" fmla="*/ 1210320 h 120852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3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3" name="TextBox 7"/>
            <p:cNvSpPr/>
            <p:nvPr/>
          </p:nvSpPr>
          <p:spPr>
            <a:xfrm>
              <a:off x="16643880" y="9431280"/>
              <a:ext cx="1083600" cy="40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814"/>
                </a:lnSpc>
              </a:pPr>
              <a:r>
                <a:rPr lang="en-US" sz="1560" b="1" u="none" spc="-40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5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4" name="TextBox 8"/>
          <p:cNvSpPr/>
          <p:nvPr/>
        </p:nvSpPr>
        <p:spPr>
          <a:xfrm>
            <a:off x="12868200" y="591840"/>
            <a:ext cx="438912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Freeform 2"/>
          <p:cNvSpPr/>
          <p:nvPr/>
        </p:nvSpPr>
        <p:spPr>
          <a:xfrm>
            <a:off x="-485640" y="-4820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Freeform 3"/>
          <p:cNvSpPr/>
          <p:nvPr/>
        </p:nvSpPr>
        <p:spPr>
          <a:xfrm flipH="1" flipV="1" rot="5400000">
            <a:off x="15577560" y="7574760"/>
            <a:ext cx="3805560" cy="1611000"/>
          </a:xfrm>
          <a:custGeom>
            <a:avLst/>
            <a:gdLst>
              <a:gd name="textAreaLeft" fmla="*/ -1080 w 3805560"/>
              <a:gd name="textAreaRight" fmla="*/ 3806280 w 3805560"/>
              <a:gd name="textAreaTop" fmla="*/ -1080 h 1611000"/>
              <a:gd name="textAreaBottom" fmla="*/ 1611720 h 1611000"/>
            </a:gdLst>
            <a:ahLst/>
            <a:cxnLst/>
            <a:rect l="textAreaLeft" t="textAreaTop" r="textAreaRight" b="textAreaBottom"/>
            <a:pathLst>
              <a:path w="3807431" h="1612966">
                <a:moveTo>
                  <a:pt x="3807431" y="1612967"/>
                </a:moveTo>
                <a:lnTo>
                  <a:pt x="0" y="1612967"/>
                </a:lnTo>
                <a:lnTo>
                  <a:pt x="0" y="0"/>
                </a:lnTo>
                <a:lnTo>
                  <a:pt x="3807431" y="0"/>
                </a:lnTo>
                <a:lnTo>
                  <a:pt x="3807431" y="1612967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Freeform 4"/>
          <p:cNvSpPr/>
          <p:nvPr/>
        </p:nvSpPr>
        <p:spPr>
          <a:xfrm>
            <a:off x="6210000" y="3171240"/>
            <a:ext cx="5866200" cy="4406400"/>
          </a:xfrm>
          <a:custGeom>
            <a:avLst/>
            <a:gdLst>
              <a:gd name="textAreaLeft" fmla="*/ 0 w 5866200"/>
              <a:gd name="textAreaRight" fmla="*/ 5868000 w 5866200"/>
              <a:gd name="textAreaTop" fmla="*/ 0 h 4406400"/>
              <a:gd name="textAreaBottom" fmla="*/ 4408200 h 4406400"/>
            </a:gdLst>
            <a:ahLst/>
            <a:cxnLst/>
            <a:rect l="textAreaLeft" t="textAreaTop" r="textAreaRight" b="textAreaBottom"/>
            <a:pathLst>
              <a:path w="5867877" h="4408242">
                <a:moveTo>
                  <a:pt x="0" y="0"/>
                </a:moveTo>
                <a:lnTo>
                  <a:pt x="5867876" y="0"/>
                </a:lnTo>
                <a:lnTo>
                  <a:pt x="5867876" y="4408243"/>
                </a:lnTo>
                <a:lnTo>
                  <a:pt x="0" y="44082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Freeform 5"/>
          <p:cNvSpPr/>
          <p:nvPr/>
        </p:nvSpPr>
        <p:spPr>
          <a:xfrm flipV="1" rot="16047000">
            <a:off x="11160360" y="2208240"/>
            <a:ext cx="1064880" cy="1333800"/>
          </a:xfrm>
          <a:custGeom>
            <a:avLst/>
            <a:gdLst>
              <a:gd name="textAreaLeft" fmla="*/ 0 w 1064880"/>
              <a:gd name="textAreaRight" fmla="*/ 1066680 w 1064880"/>
              <a:gd name="textAreaTop" fmla="*/ -1080 h 1333800"/>
              <a:gd name="textAreaBottom" fmla="*/ 1334520 h 1333800"/>
            </a:gdLst>
            <a:ahLst/>
            <a:cxnLst/>
            <a:rect l="textAreaLeft" t="textAreaTop" r="textAreaRight" b="textAreaBottom"/>
            <a:pathLst>
              <a:path w="1066673" h="1335428">
                <a:moveTo>
                  <a:pt x="0" y="1335429"/>
                </a:moveTo>
                <a:lnTo>
                  <a:pt x="1066673" y="1335429"/>
                </a:lnTo>
                <a:lnTo>
                  <a:pt x="1066673" y="0"/>
                </a:lnTo>
                <a:lnTo>
                  <a:pt x="0" y="0"/>
                </a:lnTo>
                <a:lnTo>
                  <a:pt x="0" y="1335429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Freeform 6"/>
          <p:cNvSpPr/>
          <p:nvPr/>
        </p:nvSpPr>
        <p:spPr>
          <a:xfrm rot="18086400">
            <a:off x="10706760" y="6992640"/>
            <a:ext cx="999360" cy="1825560"/>
          </a:xfrm>
          <a:custGeom>
            <a:avLst/>
            <a:gdLst>
              <a:gd name="textAreaLeft" fmla="*/ 0 w 999360"/>
              <a:gd name="textAreaRight" fmla="*/ 1001160 w 999360"/>
              <a:gd name="textAreaTop" fmla="*/ 0 h 1825560"/>
              <a:gd name="textAreaBottom" fmla="*/ 1827360 h 1825560"/>
            </a:gdLst>
            <a:ahLst/>
            <a:cxnLst/>
            <a:rect l="textAreaLeft" t="textAreaTop" r="textAreaRight" b="textAreaBottom"/>
            <a:pathLst>
              <a:path w="1001251" h="1827378">
                <a:moveTo>
                  <a:pt x="0" y="0"/>
                </a:moveTo>
                <a:lnTo>
                  <a:pt x="1001251" y="0"/>
                </a:lnTo>
                <a:lnTo>
                  <a:pt x="1001251" y="1827379"/>
                </a:lnTo>
                <a:lnTo>
                  <a:pt x="0" y="18273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Freeform 7"/>
          <p:cNvSpPr/>
          <p:nvPr/>
        </p:nvSpPr>
        <p:spPr>
          <a:xfrm rot="6783600">
            <a:off x="8989200" y="7679520"/>
            <a:ext cx="1928880" cy="989280"/>
          </a:xfrm>
          <a:custGeom>
            <a:avLst/>
            <a:gdLst>
              <a:gd name="textAreaLeft" fmla="*/ 0 w 1928880"/>
              <a:gd name="textAreaRight" fmla="*/ 1930680 w 1928880"/>
              <a:gd name="textAreaTop" fmla="*/ 0 h 989280"/>
              <a:gd name="textAreaBottom" fmla="*/ 991080 h 989280"/>
            </a:gdLst>
            <a:ahLst/>
            <a:cxnLst/>
            <a:rect l="textAreaLeft" t="textAreaTop" r="textAreaRight" b="textAreaBottom"/>
            <a:pathLst>
              <a:path w="1930851" h="991170">
                <a:moveTo>
                  <a:pt x="0" y="0"/>
                </a:moveTo>
                <a:lnTo>
                  <a:pt x="1930852" y="0"/>
                </a:lnTo>
                <a:lnTo>
                  <a:pt x="1930852" y="991171"/>
                </a:lnTo>
                <a:lnTo>
                  <a:pt x="0" y="9911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Freeform 8"/>
          <p:cNvSpPr/>
          <p:nvPr/>
        </p:nvSpPr>
        <p:spPr>
          <a:xfrm flipH="1" flipV="1" rot="1495800">
            <a:off x="5736960" y="2671200"/>
            <a:ext cx="1590120" cy="450000"/>
          </a:xfrm>
          <a:custGeom>
            <a:avLst/>
            <a:gdLst>
              <a:gd name="textAreaLeft" fmla="*/ -1080 w 1590120"/>
              <a:gd name="textAreaRight" fmla="*/ 1590840 w 1590120"/>
              <a:gd name="textAreaTop" fmla="*/ 0 h 450000"/>
              <a:gd name="textAreaBottom" fmla="*/ 451080 h 450000"/>
            </a:gdLst>
            <a:ahLst/>
            <a:cxnLst/>
            <a:rect l="textAreaLeft" t="textAreaTop" r="textAreaRight" b="textAreaBottom"/>
            <a:pathLst>
              <a:path w="1591863" h="451691">
                <a:moveTo>
                  <a:pt x="1591863" y="451691"/>
                </a:moveTo>
                <a:lnTo>
                  <a:pt x="0" y="451691"/>
                </a:lnTo>
                <a:lnTo>
                  <a:pt x="0" y="0"/>
                </a:lnTo>
                <a:lnTo>
                  <a:pt x="1591863" y="0"/>
                </a:lnTo>
                <a:lnTo>
                  <a:pt x="1591863" y="451691"/>
                </a:lnTo>
                <a:close/>
              </a:path>
            </a:pathLst>
          </a:custGeom>
          <a:blipFill rotWithShape="0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9"/>
          <p:cNvSpPr/>
          <p:nvPr/>
        </p:nvSpPr>
        <p:spPr>
          <a:xfrm>
            <a:off x="4518000" y="1088280"/>
            <a:ext cx="92502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08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2d3880"/>
                </a:solidFill>
                <a:effectLst/>
                <a:uFillTx/>
                <a:latin typeface="Cormorant Garamond Bold"/>
                <a:ea typeface="Cormorant Garamond Bold"/>
              </a:rPr>
              <a:t>THE CORTEX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0080"/>
              </a:lnSpc>
              <a:tabLst>
                <a:tab algn="l" pos="0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10"/>
          <p:cNvSpPr/>
          <p:nvPr/>
        </p:nvSpPr>
        <p:spPr>
          <a:xfrm>
            <a:off x="910440" y="2489760"/>
            <a:ext cx="5193720" cy="23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00"/>
              </a:lnSpc>
            </a:pPr>
            <a:r>
              <a:rPr lang="en-US" sz="2400" b="1" u="sng" strike="noStrike">
                <a:solidFill>
                  <a:srgbClr val="38b6ff"/>
                </a:solidFill>
                <a:effectLst/>
                <a:uFillTx/>
                <a:latin typeface="Times New Roman MT Bold"/>
                <a:ea typeface="Times New Roman MT Bold"/>
              </a:rPr>
              <a:t>Frontal Lobe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38b6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38b6ff"/>
                </a:solidFill>
                <a:effectLst/>
                <a:uFillTx/>
                <a:latin typeface="Times New Roman MT Bold"/>
                <a:ea typeface="Times New Roman MT Bold"/>
              </a:rPr>
              <a:t>Problem solving, Decision Making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38b6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38b6ff"/>
                </a:solidFill>
                <a:effectLst/>
                <a:uFillTx/>
                <a:latin typeface="Times New Roman MT Bold"/>
                <a:ea typeface="Times New Roman MT Bold"/>
              </a:rPr>
              <a:t>Organizing &amp; Planning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38b6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38b6ff"/>
                </a:solidFill>
                <a:effectLst/>
                <a:uFillTx/>
                <a:latin typeface="Times New Roman MT Bold"/>
                <a:ea typeface="Times New Roman MT Bold"/>
              </a:rPr>
              <a:t>Personality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38b6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38b6ff"/>
                </a:solidFill>
                <a:effectLst/>
                <a:uFillTx/>
                <a:latin typeface="Times New Roman MT Bold"/>
                <a:ea typeface="Times New Roman MT Bold"/>
              </a:rPr>
              <a:t>Emotions, Behaviour &amp; Mood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1"/>
          <p:cNvSpPr/>
          <p:nvPr/>
        </p:nvSpPr>
        <p:spPr>
          <a:xfrm>
            <a:off x="1571760" y="5713200"/>
            <a:ext cx="4457160" cy="23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00"/>
              </a:lnSpc>
            </a:pPr>
            <a:r>
              <a:rPr lang="en-US" sz="2400" b="1" u="sng" strike="noStrike">
                <a:solidFill>
                  <a:srgbClr val="a6c288"/>
                </a:solidFill>
                <a:effectLst/>
                <a:uFillTx/>
                <a:latin typeface="Times New Roman MT Bold"/>
                <a:ea typeface="Times New Roman MT Bold"/>
              </a:rPr>
              <a:t>Temporal Lobe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a6c288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a6c288"/>
                </a:solidFill>
                <a:effectLst/>
                <a:uFillTx/>
                <a:latin typeface="Times New Roman MT Bold"/>
                <a:ea typeface="Times New Roman MT Bold"/>
              </a:rPr>
              <a:t>Speech, Hearing, Balance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a6c288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a6c288"/>
                </a:solidFill>
                <a:effectLst/>
                <a:uFillTx/>
                <a:latin typeface="Times New Roman MT Bold"/>
                <a:ea typeface="Times New Roman MT Bold"/>
              </a:rPr>
              <a:t>Short term memory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a6c288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a6c288"/>
                </a:solidFill>
                <a:effectLst/>
                <a:uFillTx/>
                <a:latin typeface="Times New Roman MT Bold"/>
                <a:ea typeface="Times New Roman MT Bold"/>
              </a:rPr>
              <a:t>Long term memory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a6c288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a6c288"/>
                </a:solidFill>
                <a:effectLst/>
                <a:uFillTx/>
                <a:latin typeface="Times New Roman MT Bold"/>
                <a:ea typeface="Times New Roman MT Bold"/>
              </a:rPr>
              <a:t>Understand language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2"/>
          <p:cNvSpPr/>
          <p:nvPr/>
        </p:nvSpPr>
        <p:spPr>
          <a:xfrm>
            <a:off x="11498400" y="2113560"/>
            <a:ext cx="3839040" cy="14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00"/>
              </a:lnSpc>
            </a:pPr>
            <a:r>
              <a:rPr lang="en-US" sz="2400" b="1" u="sng" strike="noStrike">
                <a:solidFill>
                  <a:srgbClr val="ffde59"/>
                </a:solidFill>
                <a:effectLst/>
                <a:uFillTx/>
                <a:latin typeface="Times New Roman MT Bold"/>
                <a:ea typeface="Times New Roman MT Bold"/>
              </a:rPr>
              <a:t>Parietal Lobe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ffde59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ffde59"/>
                </a:solidFill>
                <a:effectLst/>
                <a:uFillTx/>
                <a:latin typeface="Times New Roman MT Bold"/>
                <a:ea typeface="Times New Roman MT Bold"/>
              </a:rPr>
              <a:t>Sensory information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ffde59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ffde59"/>
                </a:solidFill>
                <a:effectLst/>
                <a:uFillTx/>
                <a:latin typeface="Times New Roman MT Bold"/>
                <a:ea typeface="Times New Roman MT Bold"/>
              </a:rPr>
              <a:t>Smell, taste, touch, pain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3"/>
          <p:cNvSpPr/>
          <p:nvPr/>
        </p:nvSpPr>
        <p:spPr>
          <a:xfrm>
            <a:off x="13047120" y="4059720"/>
            <a:ext cx="4581720" cy="23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00"/>
              </a:lnSpc>
            </a:pPr>
            <a:r>
              <a:rPr lang="en-US" sz="2400" b="1" u="sng" strike="noStrike">
                <a:solidFill>
                  <a:srgbClr val="ef90a5"/>
                </a:solidFill>
                <a:effectLst/>
                <a:uFillTx/>
                <a:latin typeface="Times New Roman MT Bold"/>
                <a:ea typeface="Times New Roman MT Bold"/>
              </a:rPr>
              <a:t>Occipital Lobe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ef90a5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ef90a5"/>
                </a:solidFill>
                <a:effectLst/>
                <a:uFillTx/>
                <a:latin typeface="Times New Roman MT Bold"/>
                <a:ea typeface="Times New Roman MT Bold"/>
              </a:rPr>
              <a:t>Process visual information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ef90a5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ef90a5"/>
                </a:solidFill>
                <a:effectLst/>
                <a:uFillTx/>
                <a:latin typeface="Times New Roman MT Bold"/>
                <a:ea typeface="Times New Roman MT Bold"/>
              </a:rPr>
              <a:t>Visual system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ef90a5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ef90a5"/>
                </a:solidFill>
                <a:effectLst/>
                <a:uFillTx/>
                <a:latin typeface="Times New Roman MT Bold"/>
                <a:ea typeface="Times New Roman MT Bold"/>
              </a:rPr>
              <a:t>Left to right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ef90a5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ef90a5"/>
                </a:solidFill>
                <a:effectLst/>
                <a:uFillTx/>
                <a:latin typeface="Times New Roman MT Bold"/>
                <a:ea typeface="Times New Roman MT Bold"/>
              </a:rPr>
              <a:t>Shapes and sizes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14"/>
          <p:cNvSpPr/>
          <p:nvPr/>
        </p:nvSpPr>
        <p:spPr>
          <a:xfrm>
            <a:off x="11864520" y="7110720"/>
            <a:ext cx="5392800" cy="14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00"/>
              </a:lnSpc>
            </a:pPr>
            <a:r>
              <a:rPr lang="en-US" sz="2400" b="1" u="sng" strike="noStrike">
                <a:solidFill>
                  <a:srgbClr val="737373"/>
                </a:solidFill>
                <a:effectLst/>
                <a:uFillTx/>
                <a:latin typeface="Times New Roman MT Bold"/>
                <a:ea typeface="Times New Roman MT Bold"/>
              </a:rPr>
              <a:t>Cerebellum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737373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737373"/>
                </a:solidFill>
                <a:effectLst/>
                <a:uFillTx/>
                <a:latin typeface="Times New Roman MT Bold"/>
                <a:ea typeface="Times New Roman MT Bold"/>
              </a:rPr>
              <a:t>Coordination of voluntary movement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737373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737373"/>
                </a:solidFill>
                <a:effectLst/>
                <a:uFillTx/>
                <a:latin typeface="Times New Roman MT Bold"/>
                <a:ea typeface="Times New Roman MT Bold"/>
              </a:rPr>
              <a:t>Balance &amp; Posture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5"/>
          <p:cNvSpPr/>
          <p:nvPr/>
        </p:nvSpPr>
        <p:spPr>
          <a:xfrm>
            <a:off x="7417080" y="7750800"/>
            <a:ext cx="2748960" cy="18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00"/>
              </a:lnSpc>
            </a:pPr>
            <a:r>
              <a:rPr lang="en-US" sz="2400" b="1" u="sng" strike="noStrike">
                <a:solidFill>
                  <a:srgbClr val="a6a6a6"/>
                </a:solidFill>
                <a:effectLst/>
                <a:uFillTx/>
                <a:latin typeface="Times New Roman MT Bold"/>
                <a:ea typeface="Times New Roman MT Bold"/>
              </a:rPr>
              <a:t>Brain Stem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a6a6a6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a6a6a6"/>
                </a:solidFill>
                <a:effectLst/>
                <a:uFillTx/>
                <a:latin typeface="Times New Roman MT Bold"/>
                <a:ea typeface="Times New Roman MT Bold"/>
              </a:rPr>
              <a:t>Breathing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a6a6a6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a6a6a6"/>
                </a:solidFill>
                <a:effectLst/>
                <a:uFillTx/>
                <a:latin typeface="Times New Roman MT Bold"/>
                <a:ea typeface="Times New Roman MT Bold"/>
              </a:rPr>
              <a:t>Heart rate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3600"/>
              </a:lnSpc>
              <a:buClr>
                <a:srgbClr val="a6a6a6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a6a6a6"/>
                </a:solidFill>
                <a:effectLst/>
                <a:uFillTx/>
                <a:latin typeface="Times New Roman MT Bold"/>
                <a:ea typeface="Times New Roman MT Bold"/>
              </a:rPr>
              <a:t>Consciousness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Freeform 16"/>
          <p:cNvSpPr/>
          <p:nvPr/>
        </p:nvSpPr>
        <p:spPr>
          <a:xfrm flipH="1" rot="21342000">
            <a:off x="4876200" y="6670080"/>
            <a:ext cx="1752120" cy="495720"/>
          </a:xfrm>
          <a:custGeom>
            <a:avLst/>
            <a:gdLst>
              <a:gd name="textAreaLeft" fmla="*/ -1080 w 1752120"/>
              <a:gd name="textAreaRight" fmla="*/ 1752840 w 1752120"/>
              <a:gd name="textAreaTop" fmla="*/ 0 h 495720"/>
              <a:gd name="textAreaBottom" fmla="*/ 497520 h 495720"/>
            </a:gdLst>
            <a:ahLst/>
            <a:cxnLst/>
            <a:rect l="textAreaLeft" t="textAreaTop" r="textAreaRight" b="textAreaBottom"/>
            <a:pathLst>
              <a:path w="1754007" h="497699">
                <a:moveTo>
                  <a:pt x="1754007" y="0"/>
                </a:moveTo>
                <a:lnTo>
                  <a:pt x="0" y="0"/>
                </a:lnTo>
                <a:lnTo>
                  <a:pt x="0" y="497700"/>
                </a:lnTo>
                <a:lnTo>
                  <a:pt x="1754007" y="497700"/>
                </a:lnTo>
                <a:lnTo>
                  <a:pt x="1754007" y="0"/>
                </a:lnTo>
                <a:close/>
              </a:path>
            </a:pathLst>
          </a:custGeom>
          <a:blipFill rotWithShape="0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Freeform 17"/>
          <p:cNvSpPr/>
          <p:nvPr/>
        </p:nvSpPr>
        <p:spPr>
          <a:xfrm flipV="1" rot="20183400">
            <a:off x="12265560" y="4165200"/>
            <a:ext cx="1752840" cy="495360"/>
          </a:xfrm>
          <a:custGeom>
            <a:avLst/>
            <a:gdLst>
              <a:gd name="textAreaLeft" fmla="*/ 0 w 1752840"/>
              <a:gd name="textAreaRight" fmla="*/ 1754280 w 1752840"/>
              <a:gd name="textAreaTop" fmla="*/ 0 h 495360"/>
              <a:gd name="textAreaBottom" fmla="*/ 496440 h 495360"/>
            </a:gdLst>
            <a:ahLst/>
            <a:cxnLst/>
            <a:rect l="textAreaLeft" t="textAreaTop" r="textAreaRight" b="textAreaBottom"/>
            <a:pathLst>
              <a:path w="1754007" h="497699">
                <a:moveTo>
                  <a:pt x="0" y="497699"/>
                </a:moveTo>
                <a:lnTo>
                  <a:pt x="1754006" y="497699"/>
                </a:lnTo>
                <a:lnTo>
                  <a:pt x="1754006" y="0"/>
                </a:lnTo>
                <a:lnTo>
                  <a:pt x="0" y="0"/>
                </a:lnTo>
                <a:lnTo>
                  <a:pt x="0" y="497699"/>
                </a:lnTo>
                <a:close/>
              </a:path>
            </a:pathLst>
          </a:custGeom>
          <a:blipFill rotWithShape="0"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18"/>
          <p:cNvSpPr/>
          <p:nvPr/>
        </p:nvSpPr>
        <p:spPr>
          <a:xfrm>
            <a:off x="11679120" y="9114480"/>
            <a:ext cx="499392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22"/>
              </a:lnSpc>
            </a:pPr>
            <a:r>
              <a:rPr lang="en-US" sz="175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Parts of the Brain &amp; Their Functions.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622"/>
              </a:lnSpc>
              <a:tabLst>
                <a:tab algn="l" pos="0"/>
              </a:tabLst>
            </a:pPr>
            <a:r>
              <a:rPr lang="en-US" sz="175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By Martina Anene-Ogbe.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19"/>
          <p:cNvSpPr/>
          <p:nvPr/>
        </p:nvSpPr>
        <p:spPr>
          <a:xfrm>
            <a:off x="9584280" y="591840"/>
            <a:ext cx="76730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22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000000"/>
                </a:solidFill>
                <a:effectLst/>
                <a:uFillTx/>
                <a:latin typeface="Times New Roman MT Italics"/>
                <a:ea typeface="Times New Roman MT Italics"/>
              </a:rPr>
              <a:t>The ACNEI Computational Neuroscience Introductory School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3" name="Group 20"/>
          <p:cNvGrpSpPr/>
          <p:nvPr/>
        </p:nvGrpSpPr>
        <p:grpSpPr>
          <a:xfrm>
            <a:off x="467640" y="8809560"/>
            <a:ext cx="883440" cy="1087920"/>
            <a:chOff x="467640" y="8809560"/>
            <a:chExt cx="883440" cy="1087920"/>
          </a:xfrm>
        </p:grpSpPr>
        <p:grpSp>
          <p:nvGrpSpPr>
            <p:cNvPr id="364" name="Group 21"/>
            <p:cNvGrpSpPr/>
            <p:nvPr/>
          </p:nvGrpSpPr>
          <p:grpSpPr>
            <a:xfrm>
              <a:off x="467640" y="9014040"/>
              <a:ext cx="883440" cy="883440"/>
              <a:chOff x="467640" y="9014040"/>
              <a:chExt cx="883440" cy="883440"/>
            </a:xfrm>
          </p:grpSpPr>
          <p:sp>
            <p:nvSpPr>
              <p:cNvPr id="365" name="Freeform 22"/>
              <p:cNvSpPr/>
              <p:nvPr/>
            </p:nvSpPr>
            <p:spPr>
              <a:xfrm>
                <a:off x="467640" y="9014040"/>
                <a:ext cx="883440" cy="883440"/>
              </a:xfrm>
              <a:custGeom>
                <a:avLst/>
                <a:gdLst>
                  <a:gd name="textAreaLeft" fmla="*/ 0 w 883440"/>
                  <a:gd name="textAreaRight" fmla="*/ 885240 w 883440"/>
                  <a:gd name="textAreaTop" fmla="*/ 0 h 883440"/>
                  <a:gd name="textAreaBottom" fmla="*/ 885240 h 883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 rotWithShape="0">
                <a:blip r:embed="rId18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6" name="TextBox 23"/>
            <p:cNvSpPr/>
            <p:nvPr/>
          </p:nvSpPr>
          <p:spPr>
            <a:xfrm>
              <a:off x="513360" y="8809560"/>
              <a:ext cx="792000" cy="28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324"/>
                </a:lnSpc>
              </a:pPr>
              <a:r>
                <a:rPr lang="en-US" sz="1150" b="1" u="none" spc="-28" strike="noStrike">
                  <a:solidFill>
                    <a:srgbClr val="05315e"/>
                  </a:solidFill>
                  <a:effectLst/>
                  <a:uFillTx/>
                  <a:latin typeface="Anca Coder Bold"/>
                  <a:ea typeface="Anca Coder Bold"/>
                </a:rPr>
                <a:t>acnei.org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2006</TotalTime>
  <Application>LibreOffice/25.8.5.1$Linux_X86_64 LibreOffice_project/580$Build-1</Application>
  <AppVersion>15.0000</AppVersion>
  <Words>1442</Words>
  <Paragraphs>266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DAHFnHS-NKM</dc:identifier>
  <dc:language>en-US</dc:language>
  <cp:lastModifiedBy/>
  <dcterms:modified xsi:type="dcterms:W3CDTF">2026-04-17T10:34:21Z</dcterms:modified>
  <cp:revision>77</cp:revision>
  <dc:subject/>
  <dc:title>ACNEI Introductory School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r8>30</vt:r8>
  </property>
</Properties>
</file>